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v>
                </c:pt>
              </c:strCache>
            </c:strRef>
          </c:tx>
          <c:dPt>
            <c:idx val="0"/>
            <c:spPr>
              <a:solidFill>
                <a:srgbClr val="A8A3BF"/>
              </a:solidFill>
            </c:spPr>
          </c:dPt>
          <c:dPt>
            <c:idx val="1"/>
            <c:spPr>
              <a:solidFill>
                <a:srgbClr val="6D28D9"/>
              </a:solidFill>
            </c:spPr>
          </c:dPt>
          <c:cat>
            <c:strRef>
              <c:f>Sheet1!$A$2:$A$3</c:f>
              <c:strCache>
                <c:ptCount val="2"/>
                <c:pt idx="0">
                  <c:v>Model writes steps</c:v>
                </c:pt>
                <c:pt idx="1">
                  <c:v>Model picks step numbers</c:v>
                </c:pt>
              </c:strCache>
            </c:strRef>
          </c:cat>
          <c:val>
            <c:numRef>
              <c:f>Sheet1!$B$2:$B$3</c:f>
              <c:numCache>
                <c:formatCode>General</c:formatCode>
                <c:ptCount val="2"/>
                <c:pt idx="0">
                  <c:v>47.2</c:v>
                </c:pt>
                <c:pt idx="1">
                  <c:v>100.0</c:v>
                </c:pt>
              </c:numCache>
            </c:numRef>
          </c:val>
        </c:ser>
        <c:dLbls>
          <c:numFmt formatCode="0.0&quot;%&quot;" sourceLinked="0"/>
          <c:txPr>
            <a:bodyPr/>
            <a:lstStyle/>
            <a:p>
              <a:pPr>
                <a:defRPr sz="1200" b="1">
                  <a:solidFill>
                    <a:srgbClr val="14142B"/>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DD8EE"/>
            </a:solidFill>
          </a:ln>
        </c:spPr>
        <c:txPr>
          <a:bodyPr/>
          <a:lstStyle/>
          <a:p>
            <a:pPr>
              <a:defRPr sz="1100">
                <a:solidFill>
                  <a:srgbClr val="3F3F5A"/>
                </a:solidFill>
              </a:defRPr>
            </a:pPr>
          </a:p>
        </c:txPr>
        <c:crossAx val="-2113994440"/>
        <c:crosses val="autoZero"/>
        <c:auto val="1"/>
        <c:lblAlgn val="ctr"/>
        <c:lblOffset val="100"/>
        <c:noMultiLvlLbl val="0"/>
      </c:catAx>
      <c:valAx>
        <c:axId val="-2113994440"/>
        <c:scaling>
          <c:max val="125.0"/>
          <c:min val="0.0"/>
        </c:scaling>
        <c:delete/>
        <c:axPos val="b"/>
        <c:majorTickMark val="out"/>
        <c:minorTickMark val="none"/>
        <c:tickLblPos val="nextTo"/>
        <c:crossAx val="-2068027336"/>
        <c:crosses val="autoZero"/>
      </c:valAx>
    </c:plotArea>
    <c:dispBlanksAs val="gap"/>
  </c:chart>
  <c:txPr>
    <a:bodyPr/>
    <a:lstStyle/>
    <a:p>
      <a:pPr>
        <a:defRPr sz="18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v>
                </c:pt>
              </c:strCache>
            </c:strRef>
          </c:tx>
          <c:dPt>
            <c:idx val="0"/>
            <c:spPr>
              <a:solidFill>
                <a:srgbClr val="A8A3BF"/>
              </a:solidFill>
            </c:spPr>
          </c:dPt>
          <c:dPt>
            <c:idx val="1"/>
            <c:spPr>
              <a:solidFill>
                <a:srgbClr val="6D28D9"/>
              </a:solidFill>
            </c:spPr>
          </c:dPt>
          <c:cat>
            <c:strRef>
              <c:f>Sheet1!$A$2:$A$3</c:f>
              <c:strCache>
                <c:ptCount val="2"/>
                <c:pt idx="0">
                  <c:v>Model writes the URI</c:v>
                </c:pt>
                <c:pt idx="1">
                  <c:v>Retriever (ours)</c:v>
                </c:pt>
              </c:strCache>
            </c:strRef>
          </c:cat>
          <c:val>
            <c:numRef>
              <c:f>Sheet1!$B$2:$B$3</c:f>
              <c:numCache>
                <c:formatCode>General</c:formatCode>
                <c:ptCount val="2"/>
                <c:pt idx="0">
                  <c:v>2.3</c:v>
                </c:pt>
                <c:pt idx="1">
                  <c:v>95.3</c:v>
                </c:pt>
              </c:numCache>
            </c:numRef>
          </c:val>
        </c:ser>
        <c:dLbls>
          <c:numFmt formatCode="0.0&quot;%&quot;" sourceLinked="0"/>
          <c:txPr>
            <a:bodyPr/>
            <a:lstStyle/>
            <a:p>
              <a:pPr>
                <a:defRPr sz="1200" b="1">
                  <a:solidFill>
                    <a:srgbClr val="14142B"/>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DDD8EE"/>
            </a:solidFill>
          </a:ln>
        </c:spPr>
        <c:txPr>
          <a:bodyPr/>
          <a:lstStyle/>
          <a:p>
            <a:pPr>
              <a:defRPr sz="1100">
                <a:solidFill>
                  <a:srgbClr val="3F3F5A"/>
                </a:solidFill>
              </a:defRPr>
            </a:pPr>
          </a:p>
        </c:txPr>
        <c:crossAx val="-2113994440"/>
        <c:crosses val="autoZero"/>
        <c:auto val="1"/>
        <c:lblAlgn val="ctr"/>
        <c:lblOffset val="100"/>
        <c:noMultiLvlLbl val="0"/>
      </c:catAx>
      <c:valAx>
        <c:axId val="-2113994440"/>
        <c:scaling>
          <c:max val="125.0"/>
          <c:min val="0.0"/>
        </c:scaling>
        <c:delete/>
        <c:axPos val="b"/>
        <c:majorTickMark val="out"/>
        <c:minorTickMark val="none"/>
        <c:tickLblPos val="nextTo"/>
        <c:crossAx val="-2068027336"/>
        <c:crosses val="autoZero"/>
      </c:valAx>
    </c:plotArea>
    <c:dispBlanksAs val="gap"/>
  </c:chart>
  <c:txPr>
    <a:bodyPr/>
    <a:lstStyle/>
    <a:p>
      <a:pPr>
        <a:defRPr sz="1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Theme 02, Smart Guided Troubleshooting Engine, by team DeadlockDodgers from Thapar: Vyom Khanna, Sanyam Ahuja, Shauryajit Singh and Parin Gupta. Code, demo video and this deck are in the GitHub repository under the tag PRISM_GENAI_HACKATHON_Y2026.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The code, the reports behind every number, the demo video and this deck are in the repository.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words: people describe symptoms, not causes, and today a human translates that into steps. The table maps each ask of the theme to what we built. Two stages: a strong model compiles checked plans once, offline; a small local model plans new articles at request time. Deeplinks always come from the supplied catalog.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15-minute figure is from the theme brief. The chatbot and keyword-rule numbers are our own measurements with the same data (reports/ablation_steps.txt, ablation_generate.txt, dl_paraphrase_*.txt). Fluent generated text is the problem: it looks right and is not the article.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the build tier runs the same pipeline once per supplied article with a strong model; its output is validated by 17 gates and frozen into artifacts. Bottom: a request is normalised and split; without an article each problem is matched to a cached plan by meaning. With a new article, the local 1.5B model only picks step numbers, a retriever maps each settings screen to a catalog deeplink, steps are ordered least disruptive first, and the gates check the result before it leaves.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video is a screen recording of the real system: the actual API, a local model answering live, nothing mocked. Every complaint is typed the way people really type: short, lowercase, slang. It shows cache hits, the same plan for different words, a two-problem complaint, a live plan for a new battery article, the repeat served instantly, an out-of-scope fallback and the URL-leak check.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at runtime is local and open: a 1.5B model through Ollama on the laptop GPU and a small embedding model on the CPU. The only hosted model, Claude Opus 5, was used once, offline, to compile the cached plans, and its output is validated by the same gates. Packaging is a Dockerfile plus a compose file that also starts Ollama.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users: the contact-centre agent, the phone owner doing self-service, and the team that writes support content. The 70 requests per second is the cache path under 8 concurrent clients on the laptop, with P95 still under 300 ms. Nothing is fine-tuned, so new scenarios are a compile step, not a training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the model never writes user-facing text or deeplinks, so hallucinated steps and URIs cannot occur by construction. Every target in the problem statement is met. The limitations are measured, with evidence in docs/metrics.md section 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four remove the measured limitations. Device-state awareness uses a field the schema already has, validationDeeplink. On-device and multilingual support are what would make this a Samsung product.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our two ablations. When the same model writes steps, fewer than half are the article's own words and latency breaks the budget; when it picks step numbers, all of them are. For deeplinks, a model writing masked URIs gets 1 of 43 right, the retriever 95.3%. Sources: reports/ablation_steps.txt, ablation_generate.txt, dl_display_hybrid.txt, compare_models.json.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the submission guideline asks for is in the commit tagged PRISM_GENAI_HACKATHON_Y2026.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github.com/Sanyam-Ahuja/pris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Theme ID -</a:t>
            </a:r>
            <a:r>
              <a:rPr lang="en-US" sz="1400" dirty="0" b="1">
                <a:solidFill>
                  <a:srgbClr val="14142B"/>
                </a:solidFill>
                <a:latin typeface="Calibri" pitchFamily="34" charset="0"/>
                <a:ea typeface="Calibri" pitchFamily="34" charset="-122"/>
                <a:cs typeface="Calibri" pitchFamily="34" charset="-120"/>
              </a:rPr>
              <a:t> Theme 02 · Smart Guided Troubleshooting Engine</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Team Name -</a:t>
            </a:r>
            <a:r>
              <a:rPr lang="en-US" sz="1400" dirty="0" b="1">
                <a:solidFill>
                  <a:srgbClr val="14142B"/>
                </a:solidFill>
                <a:latin typeface="Calibri" pitchFamily="34" charset="0"/>
                <a:ea typeface="Calibri" pitchFamily="34" charset="-122"/>
                <a:cs typeface="Calibri" pitchFamily="34" charset="-120"/>
              </a:rPr>
              <a:t> DeadlockDodgers</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College Name -</a:t>
            </a:r>
            <a:r>
              <a:rPr lang="en-US" sz="1400" dirty="0" b="1">
                <a:solidFill>
                  <a:srgbClr val="14142B"/>
                </a:solidFill>
                <a:latin typeface="Calibri" pitchFamily="34" charset="0"/>
                <a:ea typeface="Calibri" pitchFamily="34" charset="-122"/>
                <a:cs typeface="Calibri" pitchFamily="34" charset="-120"/>
              </a:rPr>
              <a:t> Thapar</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Member Name &amp; Email 1-</a:t>
            </a:r>
            <a:r>
              <a:rPr lang="en-US" sz="1400" dirty="0" b="1">
                <a:solidFill>
                  <a:srgbClr val="14142B"/>
                </a:solidFill>
                <a:latin typeface="Calibri" pitchFamily="34" charset="0"/>
                <a:ea typeface="Calibri" pitchFamily="34" charset="-122"/>
                <a:cs typeface="Calibri" pitchFamily="34" charset="-120"/>
              </a:rPr>
              <a:t> Vyom Khanna · vkhanna_be25@thapar.edu</a:t>
            </a:r>
          </a:p>
          <a:p>
            <a:pPr marL="177800" indent="-177800">
              <a:spcAft>
                <a:spcPts val="500"/>
              </a:spcAft>
              <a:buSzPct val="100000"/>
              <a:buChar char="•"/>
            </a:pPr>
            <a:r>
              <a:rPr lang="en-US" sz="1400" dirty="0">
                <a:solidFill>
                  <a:srgbClr val="63637E"/>
                </a:solidFill>
                <a:latin typeface="Calibri" pitchFamily="34" charset="0"/>
                <a:ea typeface="Calibri" pitchFamily="34" charset="-122"/>
                <a:cs typeface="Calibri" pitchFamily="34" charset="-120"/>
              </a:rPr>
              <a:t>Member Name &amp; Email 2-</a:t>
            </a:r>
            <a:r>
              <a:rPr lang="en-US" sz="1400" dirty="0" b="1">
                <a:solidFill>
                  <a:srgbClr val="14142B"/>
                </a:solidFill>
                <a:latin typeface="Calibri" pitchFamily="34" charset="0"/>
                <a:ea typeface="Calibri" pitchFamily="34" charset="-122"/>
                <a:cs typeface="Calibri" pitchFamily="34" charset="-120"/>
              </a:rPr>
              <a:t> Sanyam Ahuja · sahuja2_be25@thapar.edu</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Member Name &amp; Email 3-</a:t>
            </a:r>
            <a:r>
              <a:rPr lang="en-US" sz="1400" dirty="0" b="1">
                <a:solidFill>
                  <a:srgbClr val="14142B"/>
                </a:solidFill>
                <a:latin typeface="Calibri" pitchFamily="34" charset="0"/>
                <a:ea typeface="Calibri" pitchFamily="34" charset="-122"/>
                <a:cs typeface="Calibri" pitchFamily="34" charset="-120"/>
              </a:rPr>
              <a:t> Shauryajit Singh · ssingh4_be25@thapar.edu</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Member Name &amp; Email 4-</a:t>
            </a:r>
            <a:r>
              <a:rPr lang="en-US" sz="1400" dirty="0" b="1">
                <a:solidFill>
                  <a:srgbClr val="14142B"/>
                </a:solidFill>
                <a:latin typeface="Calibri" pitchFamily="34" charset="0"/>
                <a:ea typeface="Calibri" pitchFamily="34" charset="-122"/>
                <a:cs typeface="Calibri" pitchFamily="34" charset="-120"/>
              </a:rPr>
              <a:t> Parin Gupta · pgupta_be25@thapar.edu</a:t>
            </a:r>
          </a:p>
          <a:p>
            <a:pPr marL="177800" indent="-177800">
              <a:spcAft>
                <a:spcPts val="500"/>
              </a:spcAft>
              <a:buSzPct val="100000"/>
              <a:buFontTx/>
              <a:buChar char="•"/>
            </a:pPr>
            <a:r>
              <a:rPr lang="en-US" sz="1400" dirty="0">
                <a:solidFill>
                  <a:srgbClr val="63637E"/>
                </a:solidFill>
                <a:latin typeface="Calibri" pitchFamily="34" charset="0"/>
                <a:ea typeface="Calibri" pitchFamily="34" charset="-122"/>
                <a:cs typeface="Calibri" pitchFamily="34" charset="-120"/>
              </a:rPr>
              <a:t>Submission Github link -</a:t>
            </a:r>
            <a:r>
              <a:rPr lang="en-US" sz="1400" dirty="0" b="1">
                <a:solidFill>
                  <a:srgbClr val="14142B"/>
                </a:solidFill>
                <a:latin typeface="Calibri" pitchFamily="34" charset="0"/>
                <a:ea typeface="Calibri" pitchFamily="34" charset="-122"/>
                <a:cs typeface="Calibri" pitchFamily="34" charset="-120"/>
                <a:hlinkClick r:id="rId4"/>
              </a:rPr>
              <a:t> github.com/Sanyam-Ahuja/prism</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TextBox 2"/>
          <p:cNvSpPr txBox="1"/>
          <p:nvPr/>
        </p:nvSpPr>
        <p:spPr>
          <a:xfrm>
            <a:off x="685800" y="1371600"/>
            <a:ext cx="10789920" cy="365760"/>
          </a:xfrm>
          <a:prstGeom prst="rect">
            <a:avLst/>
          </a:prstGeom>
          <a:noFill/>
        </p:spPr>
        <p:txBody>
          <a:bodyPr wrap="square" lIns="0" rIns="0" tIns="0" bIns="0" anchor="t">
            <a:spAutoFit/>
          </a:bodyPr>
          <a:lstStyle/>
          <a:p>
            <a:pPr algn="l">
              <a:spcAft>
                <a:spcPts val="400"/>
              </a:spcAft>
            </a:pPr>
            <a:r>
              <a:rPr sz="1500" b="0" i="0">
                <a:solidFill>
                  <a:srgbClr val="63637E"/>
                </a:solidFill>
                <a:latin typeface="Calibri"/>
              </a:rPr>
              <a:t>Theme 02 · Smart Guided Troubleshooting Engine: the problem in our words, and how we answer each ask</a:t>
            </a:r>
          </a:p>
        </p:txBody>
      </p:sp>
      <p:sp>
        <p:nvSpPr>
          <p:cNvPr id="4" name="Rounded Rectangle 3"/>
          <p:cNvSpPr/>
          <p:nvPr/>
        </p:nvSpPr>
        <p:spPr>
          <a:xfrm>
            <a:off x="685800" y="1783080"/>
            <a:ext cx="4846320" cy="4617720"/>
          </a:xfrm>
          <a:prstGeom prst="roundRect">
            <a:avLst>
              <a:gd name="adj" fmla="val 1188"/>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920240"/>
            <a:ext cx="4389120" cy="320040"/>
          </a:xfrm>
          <a:prstGeom prst="rect">
            <a:avLst/>
          </a:prstGeom>
          <a:noFill/>
        </p:spPr>
        <p:txBody>
          <a:bodyPr wrap="square" lIns="0" rIns="0" tIns="0" bIns="0" anchor="t">
            <a:spAutoFit/>
          </a:bodyPr>
          <a:lstStyle/>
          <a:p>
            <a:pPr algn="l">
              <a:spcAft>
                <a:spcPts val="400"/>
              </a:spcAft>
            </a:pPr>
            <a:r>
              <a:rPr sz="1600" b="1" i="0">
                <a:solidFill>
                  <a:srgbClr val="6D28D9"/>
                </a:solidFill>
                <a:latin typeface="Arial"/>
              </a:rPr>
              <a:t>The problem, in our words</a:t>
            </a:r>
          </a:p>
        </p:txBody>
      </p:sp>
      <p:sp>
        <p:nvSpPr>
          <p:cNvPr id="6" name="TextBox 5"/>
          <p:cNvSpPr txBox="1"/>
          <p:nvPr/>
        </p:nvSpPr>
        <p:spPr>
          <a:xfrm>
            <a:off x="914400" y="2286000"/>
            <a:ext cx="4389120" cy="1920240"/>
          </a:xfrm>
          <a:prstGeom prst="rect">
            <a:avLst/>
          </a:prstGeom>
          <a:noFill/>
        </p:spPr>
        <p:txBody>
          <a:bodyPr wrap="square" lIns="0" rIns="0" tIns="0" bIns="0" anchor="t">
            <a:spAutoFit/>
          </a:bodyPr>
          <a:lstStyle/>
          <a:p>
            <a:pPr algn="l">
              <a:spcAft>
                <a:spcPts val="800"/>
              </a:spcAft>
            </a:pPr>
            <a:r>
              <a:rPr sz="1350" b="0" i="0">
                <a:solidFill>
                  <a:srgbClr val="3F3F5A"/>
                </a:solidFill>
                <a:latin typeface="Calibri"/>
              </a:rPr>
              <a:t>Galaxy owners describe what they feel, not what is wrong. A support agent turns that into troubleshooting steps by hand (about 15 minutes per scenario, across millions of calls), and the user still has to hunt through Settings to act on the advice.</a:t>
            </a:r>
          </a:p>
          <a:p>
            <a:pPr algn="l">
              <a:spcAft>
                <a:spcPts val="800"/>
              </a:spcAft>
            </a:pPr>
            <a:r>
              <a:rPr sz="1350" b="1" i="0">
                <a:solidFill>
                  <a:srgbClr val="14142B"/>
                </a:solidFill>
                <a:latin typeface="Calibri"/>
              </a:rPr>
              <a:t>We want the complaint in, and a checked plan out: ordered steps taken from the support article, each settings step one tap from the right screen.</a:t>
            </a:r>
          </a:p>
        </p:txBody>
      </p:sp>
      <p:sp>
        <p:nvSpPr>
          <p:cNvPr id="7" name="TextBox 6"/>
          <p:cNvSpPr txBox="1"/>
          <p:nvPr/>
        </p:nvSpPr>
        <p:spPr>
          <a:xfrm>
            <a:off x="914400" y="4206240"/>
            <a:ext cx="4389120" cy="274320"/>
          </a:xfrm>
          <a:prstGeom prst="rect">
            <a:avLst/>
          </a:prstGeom>
          <a:noFill/>
        </p:spPr>
        <p:txBody>
          <a:bodyPr wrap="square" lIns="0" rIns="0" tIns="0" bIns="0" anchor="t">
            <a:spAutoFit/>
          </a:bodyPr>
          <a:lstStyle/>
          <a:p>
            <a:pPr algn="l">
              <a:spcAft>
                <a:spcPts val="400"/>
              </a:spcAft>
            </a:pPr>
            <a:r>
              <a:rPr sz="1250" b="1" i="0">
                <a:solidFill>
                  <a:srgbClr val="14142B"/>
                </a:solidFill>
                <a:latin typeface="Calibri"/>
              </a:rPr>
              <a:t>How people actually type it (all answered in our demo)</a:t>
            </a:r>
          </a:p>
        </p:txBody>
      </p:sp>
      <p:sp>
        <p:nvSpPr>
          <p:cNvPr id="8" name="TextBox 7"/>
          <p:cNvSpPr txBox="1"/>
          <p:nvPr/>
        </p:nvSpPr>
        <p:spPr>
          <a:xfrm>
            <a:off x="914400" y="4526280"/>
            <a:ext cx="4389120" cy="1783080"/>
          </a:xfrm>
          <a:prstGeom prst="rect">
            <a:avLst/>
          </a:prstGeom>
          <a:noFill/>
        </p:spPr>
        <p:txBody>
          <a:bodyPr wrap="square" lIns="0" rIns="0" tIns="0" bIns="0" anchor="t">
            <a:spAutoFit/>
          </a:bodyPr>
          <a:lstStyle/>
          <a:p>
            <a:pPr algn="l">
              <a:spcAft>
                <a:spcPts val="600"/>
              </a:spcAft>
            </a:pPr>
            <a:r>
              <a:rPr sz="1350" b="0" i="1">
                <a:solidFill>
                  <a:srgbClr val="14142B"/>
                </a:solidFill>
                <a:latin typeface="Calibri"/>
              </a:rPr>
              <a:t>“tapping takes forever to register”</a:t>
            </a:r>
          </a:p>
          <a:p>
            <a:pPr algn="l">
              <a:spcAft>
                <a:spcPts val="600"/>
              </a:spcAft>
            </a:pPr>
            <a:r>
              <a:rPr sz="1350" b="0" i="1">
                <a:solidFill>
                  <a:srgbClr val="14142B"/>
                </a:solidFill>
                <a:latin typeface="Calibri"/>
              </a:rPr>
              <a:t>“phone lags when i tap anything”</a:t>
            </a:r>
          </a:p>
          <a:p>
            <a:pPr algn="l">
              <a:spcAft>
                <a:spcPts val="600"/>
              </a:spcAft>
            </a:pPr>
            <a:r>
              <a:rPr sz="1350" b="0" i="1">
                <a:solidFill>
                  <a:srgbClr val="14142B"/>
                </a:solidFill>
                <a:latin typeface="Calibri"/>
              </a:rPr>
              <a:t>“dropped it and screen cracked. also touch is slow af”</a:t>
            </a:r>
          </a:p>
          <a:p>
            <a:pPr algn="l">
              <a:spcAft>
                <a:spcPts val="600"/>
              </a:spcAft>
            </a:pPr>
            <a:r>
              <a:rPr sz="1350" b="0" i="1">
                <a:solidFill>
                  <a:srgbClr val="14142B"/>
                </a:solidFill>
                <a:latin typeface="Calibri"/>
              </a:rPr>
              <a:t>“battery dies so fast lol”</a:t>
            </a:r>
          </a:p>
        </p:txBody>
      </p:sp>
      <p:graphicFrame>
        <p:nvGraphicFramePr>
          <p:cNvPr id="9" name="Table 8"/>
          <p:cNvGraphicFramePr>
            <a:graphicFrameLocks noGrp="1"/>
          </p:cNvGraphicFramePr>
          <p:nvPr/>
        </p:nvGraphicFramePr>
        <p:xfrm>
          <a:off x="5760720" y="1783080"/>
          <a:ext cx="5742432" cy="4608576"/>
        </p:xfrm>
        <a:graphic>
          <a:graphicData uri="http://schemas.openxmlformats.org/drawingml/2006/table">
            <a:tbl>
              <a:tblPr firstRow="0" bandRow="0">
                <a:tableStyleId>{5940675A-B579-460E-94D1-54222C63F5DA}</a:tableStyleId>
              </a:tblPr>
              <a:tblGrid>
                <a:gridCol w="2148840"/>
                <a:gridCol w="3593592"/>
              </a:tblGrid>
              <a:tr h="658368">
                <a:tc>
                  <a:txBody>
                    <a:bodyPr wrap="square"/>
                    <a:lstStyle/>
                    <a:p>
                      <a:r>
                        <a:rPr sz="1100" b="1">
                          <a:solidFill>
                            <a:srgbClr val="FFFFFF"/>
                          </a:solidFill>
                          <a:latin typeface="Calibri"/>
                        </a:rPr>
                        <a:t>The theme asks for</a:t>
                      </a:r>
                    </a:p>
                  </a:txBody>
                  <a:tcPr marL="73152" marR="73152" marT="27432" marB="27432" anchor="ctr">
                    <a:solidFill>
                      <a:srgbClr val="6D28D9"/>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00" b="1">
                          <a:solidFill>
                            <a:srgbClr val="FFFFFF"/>
                          </a:solidFill>
                          <a:latin typeface="Calibri"/>
                        </a:rPr>
                        <a:t>What we built</a:t>
                      </a:r>
                    </a:p>
                  </a:txBody>
                  <a:tcPr marL="73152" marR="73152" marT="27432" marB="27432" anchor="ctr">
                    <a:solidFill>
                      <a:srgbClr val="6D28D9"/>
                    </a:solidFill>
                    <a:lnL w="6350">
                      <a:solidFill>
                        <a:srgbClr val="DDD8EE"/>
                      </a:solidFill>
                    </a:lnL>
                    <a:lnR w="6350">
                      <a:solidFill>
                        <a:srgbClr val="DDD8EE"/>
                      </a:solidFill>
                    </a:lnR>
                    <a:lnT w="6350">
                      <a:solidFill>
                        <a:srgbClr val="DDD8EE"/>
                      </a:solidFill>
                    </a:lnT>
                    <a:lnB w="6350">
                      <a:solidFill>
                        <a:srgbClr val="DDD8EE"/>
                      </a:solidFill>
                    </a:lnB>
                  </a:tcPr>
                </a:tc>
              </a:tr>
              <a:tr h="658368">
                <a:tc>
                  <a:txBody>
                    <a:bodyPr wrap="square"/>
                    <a:lstStyle/>
                    <a:p>
                      <a:r>
                        <a:rPr sz="1100" b="1">
                          <a:solidFill>
                            <a:srgbClr val="14142B"/>
                          </a:solidFill>
                          <a:latin typeface="Calibri"/>
                        </a:rPr>
                        <a:t>Query enrichment: normalise a raw complaint</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00" b="0">
                          <a:solidFill>
                            <a:srgbClr val="3F3F5A"/>
                          </a:solidFill>
                          <a:latin typeface="Calibri"/>
                        </a:rPr>
                        <a:t>Normalise, split into separate problems, match by meaning against 130 LLM-written phrasings; 8–10 query_variations in every response</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r h="658368">
                <a:tc>
                  <a:txBody>
                    <a:bodyPr wrap="square"/>
                    <a:lstStyle/>
                    <a:p>
                      <a:r>
                        <a:rPr sz="1100" b="1">
                          <a:solidFill>
                            <a:srgbClr val="14142B"/>
                          </a:solidFill>
                          <a:latin typeface="Calibri"/>
                        </a:rPr>
                        <a:t>A two-stage LLM engine returning ordered steps as JSON</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00" b="0">
                          <a:solidFill>
                            <a:srgbClr val="3F3F5A"/>
                          </a:solidFill>
                          <a:latin typeface="Calibri"/>
                        </a:rPr>
                        <a:t>Stage 1: a strong LLM compiles checked plans offline. Stage 2: a local 1.5B LLM plans new articles live. Least disruptive step first</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r>
              <a:tr h="658368">
                <a:tc>
                  <a:txBody>
                    <a:bodyPr wrap="square"/>
                    <a:lstStyle/>
                    <a:p>
                      <a:r>
                        <a:rPr sz="1100" b="1">
                          <a:solidFill>
                            <a:srgbClr val="14142B"/>
                          </a:solidFill>
                          <a:latin typeface="Calibri"/>
                        </a:rPr>
                        <a:t>Map each step to the exact Settings deeplink</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00" b="0">
                          <a:solidFill>
                            <a:srgbClr val="3F3F5A"/>
                          </a:solidFill>
                          <a:latin typeface="Calibri"/>
                        </a:rPr>
                        <a:t>Hybrid BM25 + dense retriever over the 578-entry catalog; deeplinks are copied, never written</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r h="658368">
                <a:tc>
                  <a:txBody>
                    <a:bodyPr wrap="square"/>
                    <a:lstStyle/>
                    <a:p>
                      <a:r>
                        <a:rPr sz="1100" b="1">
                          <a:solidFill>
                            <a:srgbClr val="14142B"/>
                          </a:solidFill>
                          <a:latin typeface="Calibri"/>
                        </a:rPr>
                        <a:t>Fast-path cache under 300 ms</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00" b="0">
                          <a:solidFill>
                            <a:srgbClr val="3F3F5A"/>
                          </a:solidFill>
                          <a:latin typeface="Calibri"/>
                        </a:rPr>
                        <a:t>13.7 ms P95 on wording it has never seen</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r>
              <a:tr h="658368">
                <a:tc>
                  <a:txBody>
                    <a:bodyPr wrap="square"/>
                    <a:lstStyle/>
                    <a:p>
                      <a:r>
                        <a:rPr sz="1100" b="1">
                          <a:solidFill>
                            <a:srgbClr val="14142B"/>
                          </a:solidFill>
                          <a:latin typeface="Calibri"/>
                        </a:rPr>
                        <a:t>REST API; mapping reusable for 10k+ scenarios</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00" b="0">
                          <a:solidFill>
                            <a:srgbClr val="3F3F5A"/>
                          </a:solidFill>
                          <a:latin typeface="Calibri"/>
                        </a:rPr>
                        <a:t>POST /v1/troubleshoot. A new scenario = compile one article; no retraining</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r h="658368">
                <a:tc>
                  <a:txBody>
                    <a:bodyPr wrap="square"/>
                    <a:lstStyle/>
                    <a:p>
                      <a:r>
                        <a:rPr sz="1100" b="1">
                          <a:solidFill>
                            <a:srgbClr val="14142B"/>
                          </a:solidFill>
                          <a:latin typeface="Calibri"/>
                        </a:rPr>
                        <a:t>Report step accuracy, latency, cost</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00" b="0">
                          <a:solidFill>
                            <a:srgbClr val="3F3F5A"/>
                          </a:solidFill>
                          <a:latin typeface="Calibri"/>
                        </a:rPr>
                        <a:t>2.92–2.97 of 3 · 4.4 s P95 live · $0.00 per query</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r>
            </a:tbl>
          </a:graphicData>
        </a:graphic>
      </p:graphicFrame>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TextBox 2"/>
          <p:cNvSpPr txBox="1"/>
          <p:nvPr/>
        </p:nvSpPr>
        <p:spPr>
          <a:xfrm>
            <a:off x="685800" y="1371600"/>
            <a:ext cx="10789920" cy="365760"/>
          </a:xfrm>
          <a:prstGeom prst="rect">
            <a:avLst/>
          </a:prstGeom>
          <a:noFill/>
        </p:spPr>
        <p:txBody>
          <a:bodyPr wrap="square" lIns="0" rIns="0" tIns="0" bIns="0" anchor="t">
            <a:spAutoFit/>
          </a:bodyPr>
          <a:lstStyle/>
          <a:p>
            <a:pPr algn="l">
              <a:spcAft>
                <a:spcPts val="400"/>
              </a:spcAft>
            </a:pPr>
            <a:r>
              <a:rPr sz="1500" b="0" i="0">
                <a:solidFill>
                  <a:srgbClr val="63637E"/>
                </a:solidFill>
                <a:latin typeface="Calibri"/>
              </a:rPr>
              <a:t>Every current option gives up one of: speed, grounding in the article, or a one-tap fix</a:t>
            </a:r>
          </a:p>
        </p:txBody>
      </p:sp>
      <p:graphicFrame>
        <p:nvGraphicFramePr>
          <p:cNvPr id="4" name="Table 3"/>
          <p:cNvGraphicFramePr>
            <a:graphicFrameLocks noGrp="1"/>
          </p:cNvGraphicFramePr>
          <p:nvPr/>
        </p:nvGraphicFramePr>
        <p:xfrm>
          <a:off x="685800" y="1783080"/>
          <a:ext cx="10817352" cy="3566160"/>
        </p:xfrm>
        <a:graphic>
          <a:graphicData uri="http://schemas.openxmlformats.org/drawingml/2006/table">
            <a:tbl>
              <a:tblPr firstRow="0" bandRow="0">
                <a:tableStyleId>{5940675A-B579-460E-94D1-54222C63F5DA}</a:tableStyleId>
              </a:tblPr>
              <a:tblGrid>
                <a:gridCol w="2377440"/>
                <a:gridCol w="3657600"/>
                <a:gridCol w="4782312"/>
              </a:tblGrid>
              <a:tr h="713232">
                <a:tc>
                  <a:txBody>
                    <a:bodyPr wrap="square"/>
                    <a:lstStyle/>
                    <a:p>
                      <a:r>
                        <a:rPr sz="1250" b="1">
                          <a:solidFill>
                            <a:srgbClr val="FFFFFF"/>
                          </a:solidFill>
                          <a:latin typeface="Calibri"/>
                        </a:rPr>
                        <a:t>Existing approach</a:t>
                      </a:r>
                    </a:p>
                  </a:txBody>
                  <a:tcPr marL="73152" marR="73152" marT="27432" marB="27432" anchor="ctr">
                    <a:solidFill>
                      <a:srgbClr val="6D28D9"/>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1">
                          <a:solidFill>
                            <a:srgbClr val="FFFFFF"/>
                          </a:solidFill>
                          <a:latin typeface="Calibri"/>
                        </a:rPr>
                        <a:t>How it works</a:t>
                      </a:r>
                    </a:p>
                  </a:txBody>
                  <a:tcPr marL="73152" marR="73152" marT="27432" marB="27432" anchor="ctr">
                    <a:solidFill>
                      <a:srgbClr val="6D28D9"/>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1">
                          <a:solidFill>
                            <a:srgbClr val="FFFFFF"/>
                          </a:solidFill>
                          <a:latin typeface="Calibri"/>
                        </a:rPr>
                        <a:t>The gap</a:t>
                      </a:r>
                    </a:p>
                  </a:txBody>
                  <a:tcPr marL="73152" marR="73152" marT="27432" marB="27432" anchor="ctr">
                    <a:solidFill>
                      <a:srgbClr val="6D28D9"/>
                    </a:solidFill>
                    <a:lnL w="6350">
                      <a:solidFill>
                        <a:srgbClr val="DDD8EE"/>
                      </a:solidFill>
                    </a:lnL>
                    <a:lnR w="6350">
                      <a:solidFill>
                        <a:srgbClr val="DDD8EE"/>
                      </a:solidFill>
                    </a:lnR>
                    <a:lnT w="6350">
                      <a:solidFill>
                        <a:srgbClr val="DDD8EE"/>
                      </a:solidFill>
                    </a:lnT>
                    <a:lnB w="6350">
                      <a:solidFill>
                        <a:srgbClr val="DDD8EE"/>
                      </a:solidFill>
                    </a:lnB>
                  </a:tcPr>
                </a:tc>
              </a:tr>
              <a:tr h="713232">
                <a:tc>
                  <a:txBody>
                    <a:bodyPr wrap="square"/>
                    <a:lstStyle/>
                    <a:p>
                      <a:r>
                        <a:rPr sz="1250" b="1">
                          <a:solidFill>
                            <a:srgbClr val="14142B"/>
                          </a:solidFill>
                          <a:latin typeface="Calibri"/>
                        </a:rPr>
                        <a:t>Human support agent</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0">
                          <a:solidFill>
                            <a:srgbClr val="3F3F5A"/>
                          </a:solidFill>
                          <a:latin typeface="Calibri"/>
                        </a:rPr>
                        <a:t>Reads the complaint, finds the article, writes the steps by hand</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0">
                          <a:solidFill>
                            <a:srgbClr val="B45309"/>
                          </a:solidFill>
                          <a:latin typeface="Calibri"/>
                        </a:rPr>
                        <a:t>About 15 minutes per scenario; the user still hunts through Settings</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r h="713232">
                <a:tc>
                  <a:txBody>
                    <a:bodyPr wrap="square"/>
                    <a:lstStyle/>
                    <a:p>
                      <a:r>
                        <a:rPr sz="1250" b="1">
                          <a:solidFill>
                            <a:srgbClr val="14142B"/>
                          </a:solidFill>
                          <a:latin typeface="Calibri"/>
                        </a:rPr>
                        <a:t>Help-centre search / FAQ</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0">
                          <a:solidFill>
                            <a:srgbClr val="3F3F5A"/>
                          </a:solidFill>
                          <a:latin typeface="Calibri"/>
                        </a:rPr>
                        <a:t>Keyword search over support articles</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0">
                          <a:solidFill>
                            <a:srgbClr val="B45309"/>
                          </a:solidFill>
                          <a:latin typeface="Calibri"/>
                        </a:rPr>
                        <a:t>Vague wording misses; the user reads a whole article; no one-tap links</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r>
              <a:tr h="713232">
                <a:tc>
                  <a:txBody>
                    <a:bodyPr wrap="square"/>
                    <a:lstStyle/>
                    <a:p>
                      <a:r>
                        <a:rPr sz="1250" b="1">
                          <a:solidFill>
                            <a:srgbClr val="14142B"/>
                          </a:solidFill>
                          <a:latin typeface="Calibri"/>
                        </a:rPr>
                        <a:t>Generic LLM chatbot</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0">
                          <a:solidFill>
                            <a:srgbClr val="3F3F5A"/>
                          </a:solidFill>
                          <a:latin typeface="Calibri"/>
                        </a:rPr>
                        <a:t>The model writes the steps and links itself</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0">
                          <a:solidFill>
                            <a:srgbClr val="B45309"/>
                          </a:solidFill>
                          <a:latin typeface="Calibri"/>
                        </a:rPr>
                        <a:t>Our test, same model: only 47% of written steps were the article's own words; 2.3% of written deeplinks were correct</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r h="713232">
                <a:tc>
                  <a:txBody>
                    <a:bodyPr wrap="square"/>
                    <a:lstStyle/>
                    <a:p>
                      <a:r>
                        <a:rPr sz="1250" b="1">
                          <a:solidFill>
                            <a:srgbClr val="14142B"/>
                          </a:solidFill>
                          <a:latin typeface="Calibri"/>
                        </a:rPr>
                        <a:t>Keyword rules for Settings links</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0">
                          <a:solidFill>
                            <a:srgbClr val="3F3F5A"/>
                          </a:solidFill>
                          <a:latin typeface="Calibri"/>
                        </a:rPr>
                        <a:t>Match screen names to the catalog (BM25)</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250" b="0">
                          <a:solidFill>
                            <a:srgbClr val="B45309"/>
                          </a:solidFill>
                          <a:latin typeface="Calibri"/>
                        </a:rPr>
                        <a:t>Our test: 13.3% right on free-form screen descriptions (hybrid retrieval: 66.7%)</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r>
            </a:tbl>
          </a:graphicData>
        </a:graphic>
      </p:graphicFrame>
      <p:sp>
        <p:nvSpPr>
          <p:cNvPr id="5" name="Rounded Rectangle 4"/>
          <p:cNvSpPr/>
          <p:nvPr/>
        </p:nvSpPr>
        <p:spPr>
          <a:xfrm>
            <a:off x="685800" y="5486400"/>
            <a:ext cx="10817352" cy="868680"/>
          </a:xfrm>
          <a:prstGeom prst="roundRect">
            <a:avLst>
              <a:gd name="adj" fmla="val 6315"/>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5559552"/>
            <a:ext cx="10424160" cy="731520"/>
          </a:xfrm>
          <a:prstGeom prst="rect">
            <a:avLst/>
          </a:prstGeom>
          <a:noFill/>
        </p:spPr>
        <p:txBody>
          <a:bodyPr wrap="square" lIns="0" rIns="0" tIns="0" bIns="0" anchor="ctr">
            <a:spAutoFit/>
          </a:bodyPr>
          <a:lstStyle/>
          <a:p>
            <a:pPr algn="l">
              <a:spcAft>
                <a:spcPts val="400"/>
              </a:spcAft>
            </a:pPr>
            <a:r>
              <a:rPr sz="1400" b="1" i="0">
                <a:solidFill>
                  <a:srgbClr val="6D28D9"/>
                </a:solidFill>
                <a:latin typeface="Calibri"/>
              </a:rPr>
              <a:t>The gap we close: </a:t>
            </a:r>
            <a:r>
              <a:rPr sz="1400" b="0" i="0">
                <a:solidFill>
                  <a:srgbClr val="14142B"/>
                </a:solidFill>
                <a:latin typeface="Calibri"/>
              </a:rPr>
              <a:t>answers in milliseconds from a cache, or seconds from a local model; every step is the article's own text; every deeplink comes from the catalog; every response is checked before it leaves.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TextBox 2"/>
          <p:cNvSpPr txBox="1"/>
          <p:nvPr/>
        </p:nvSpPr>
        <p:spPr>
          <a:xfrm>
            <a:off x="685800" y="1371600"/>
            <a:ext cx="10789920" cy="365760"/>
          </a:xfrm>
          <a:prstGeom prst="rect">
            <a:avLst/>
          </a:prstGeom>
          <a:noFill/>
        </p:spPr>
        <p:txBody>
          <a:bodyPr wrap="square" lIns="0" rIns="0" tIns="0" bIns="0" anchor="t">
            <a:spAutoFit/>
          </a:bodyPr>
          <a:lstStyle/>
          <a:p>
            <a:pPr algn="l">
              <a:spcAft>
                <a:spcPts val="400"/>
              </a:spcAft>
            </a:pPr>
            <a:r>
              <a:rPr sz="1500" b="0" i="0">
                <a:solidFill>
                  <a:srgbClr val="63637E"/>
                </a:solidFill>
                <a:latin typeface="Calibri"/>
              </a:rPr>
              <a:t>One pipeline, run twice: once offline to build a cache of checked plans, and live for articles it has not seen</a:t>
            </a:r>
          </a:p>
        </p:txBody>
      </p:sp>
      <p:sp>
        <p:nvSpPr>
          <p:cNvPr id="4" name="TextBox 3"/>
          <p:cNvSpPr txBox="1"/>
          <p:nvPr/>
        </p:nvSpPr>
        <p:spPr>
          <a:xfrm>
            <a:off x="685800" y="1783080"/>
            <a:ext cx="10789920" cy="256032"/>
          </a:xfrm>
          <a:prstGeom prst="rect">
            <a:avLst/>
          </a:prstGeom>
          <a:noFill/>
        </p:spPr>
        <p:txBody>
          <a:bodyPr wrap="square" lIns="0" rIns="0" tIns="0" bIns="0" anchor="t">
            <a:spAutoFit/>
          </a:bodyPr>
          <a:lstStyle/>
          <a:p>
            <a:pPr algn="l">
              <a:spcAft>
                <a:spcPts val="400"/>
              </a:spcAft>
            </a:pPr>
            <a:r>
              <a:rPr sz="1100" b="1" i="0">
                <a:solidFill>
                  <a:srgbClr val="6D28D9"/>
                </a:solidFill>
                <a:latin typeface="Arial"/>
              </a:rPr>
              <a:t>BUILD TIME · OFFLINE, ONCE PER ARTICLE</a:t>
            </a:r>
          </a:p>
        </p:txBody>
      </p:sp>
      <p:sp>
        <p:nvSpPr>
          <p:cNvPr id="5" name="Rounded Rectangle 4"/>
          <p:cNvSpPr/>
          <p:nvPr/>
        </p:nvSpPr>
        <p:spPr>
          <a:xfrm>
            <a:off x="685800" y="2057400"/>
            <a:ext cx="2377440" cy="731520"/>
          </a:xfrm>
          <a:prstGeom prst="roundRect">
            <a:avLst>
              <a:gd name="adj" fmla="val 7500"/>
            </a:avLst>
          </a:prstGeom>
          <a:solidFill>
            <a:srgbClr val="EDE9FE"/>
          </a:solidFill>
          <a:ln w="1270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58952" y="2093976"/>
            <a:ext cx="2231136" cy="658368"/>
          </a:xfrm>
          <a:prstGeom prst="rect">
            <a:avLst/>
          </a:prstGeom>
          <a:noFill/>
        </p:spPr>
        <p:txBody>
          <a:bodyPr wrap="square" lIns="0" rIns="0" tIns="0" bIns="0" anchor="ctr">
            <a:spAutoFit/>
          </a:bodyPr>
          <a:lstStyle/>
          <a:p>
            <a:pPr algn="ctr">
              <a:spcAft>
                <a:spcPts val="100"/>
              </a:spcAft>
            </a:pPr>
            <a:r>
              <a:rPr sz="1200" b="1" i="0">
                <a:solidFill>
                  <a:srgbClr val="6D28D9"/>
                </a:solidFill>
                <a:latin typeface="Calibri"/>
              </a:rPr>
              <a:t>Theme 02 kit</a:t>
            </a:r>
          </a:p>
          <a:p>
            <a:pPr algn="ctr">
              <a:spcAft>
                <a:spcPts val="100"/>
              </a:spcAft>
            </a:pPr>
            <a:r>
              <a:rPr sz="1050" b="0" i="0">
                <a:solidFill>
                  <a:srgbClr val="3F3F5A"/>
                </a:solidFill>
                <a:latin typeface="Calibri"/>
              </a:rPr>
              <a:t>11 articles · 578 deeplinks · 20 queries</a:t>
            </a:r>
          </a:p>
        </p:txBody>
      </p:sp>
      <p:sp>
        <p:nvSpPr>
          <p:cNvPr id="7" name="Rounded Rectangle 6"/>
          <p:cNvSpPr/>
          <p:nvPr/>
        </p:nvSpPr>
        <p:spPr>
          <a:xfrm>
            <a:off x="3429000" y="2057400"/>
            <a:ext cx="2514600" cy="731520"/>
          </a:xfrm>
          <a:prstGeom prst="roundRect">
            <a:avLst>
              <a:gd name="adj" fmla="val 7500"/>
            </a:avLst>
          </a:prstGeom>
          <a:solidFill>
            <a:srgbClr val="EDE9FE"/>
          </a:solidFill>
          <a:ln w="1270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502152" y="2093976"/>
            <a:ext cx="2368296" cy="658368"/>
          </a:xfrm>
          <a:prstGeom prst="rect">
            <a:avLst/>
          </a:prstGeom>
          <a:noFill/>
        </p:spPr>
        <p:txBody>
          <a:bodyPr wrap="square" lIns="0" rIns="0" tIns="0" bIns="0" anchor="ctr">
            <a:spAutoFit/>
          </a:bodyPr>
          <a:lstStyle/>
          <a:p>
            <a:pPr algn="ctr">
              <a:spcAft>
                <a:spcPts val="100"/>
              </a:spcAft>
            </a:pPr>
            <a:r>
              <a:rPr sz="1200" b="1" i="0">
                <a:solidFill>
                  <a:srgbClr val="6D28D9"/>
                </a:solidFill>
                <a:latin typeface="Calibri"/>
              </a:rPr>
              <a:t>Build-tier LLM (Claude Opus 5)</a:t>
            </a:r>
          </a:p>
          <a:p>
            <a:pPr algn="ctr">
              <a:spcAft>
                <a:spcPts val="100"/>
              </a:spcAft>
            </a:pPr>
            <a:r>
              <a:rPr sz="1050" b="0" i="0">
                <a:solidFill>
                  <a:srgbClr val="3F3F5A"/>
                </a:solidFill>
                <a:latin typeface="Calibri"/>
              </a:rPr>
              <a:t>picks steps, names actions, writes phrasings</a:t>
            </a:r>
          </a:p>
        </p:txBody>
      </p:sp>
      <p:sp>
        <p:nvSpPr>
          <p:cNvPr id="9" name="Rounded Rectangle 8"/>
          <p:cNvSpPr/>
          <p:nvPr/>
        </p:nvSpPr>
        <p:spPr>
          <a:xfrm>
            <a:off x="6309360" y="2057400"/>
            <a:ext cx="2377440" cy="731520"/>
          </a:xfrm>
          <a:prstGeom prst="roundRect">
            <a:avLst>
              <a:gd name="adj" fmla="val 7500"/>
            </a:avLst>
          </a:prstGeom>
          <a:solidFill>
            <a:srgbClr val="EDE9FE"/>
          </a:solidFill>
          <a:ln w="1270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82512" y="2093976"/>
            <a:ext cx="2231136" cy="658368"/>
          </a:xfrm>
          <a:prstGeom prst="rect">
            <a:avLst/>
          </a:prstGeom>
          <a:noFill/>
        </p:spPr>
        <p:txBody>
          <a:bodyPr wrap="square" lIns="0" rIns="0" tIns="0" bIns="0" anchor="ctr">
            <a:spAutoFit/>
          </a:bodyPr>
          <a:lstStyle/>
          <a:p>
            <a:pPr algn="ctr">
              <a:spcAft>
                <a:spcPts val="100"/>
              </a:spcAft>
            </a:pPr>
            <a:r>
              <a:rPr sz="1200" b="1" i="0">
                <a:solidFill>
                  <a:srgbClr val="6D28D9"/>
                </a:solidFill>
                <a:latin typeface="Calibri"/>
              </a:rPr>
              <a:t>compile_plans.py</a:t>
            </a:r>
          </a:p>
          <a:p>
            <a:pPr algn="ctr">
              <a:spcAft>
                <a:spcPts val="100"/>
              </a:spcAft>
            </a:pPr>
            <a:r>
              <a:rPr sz="1050" b="0" i="0">
                <a:solidFill>
                  <a:srgbClr val="3F3F5A"/>
                </a:solidFill>
                <a:latin typeface="Calibri"/>
              </a:rPr>
              <a:t>gates G0–G16; fails on any error</a:t>
            </a:r>
          </a:p>
        </p:txBody>
      </p:sp>
      <p:sp>
        <p:nvSpPr>
          <p:cNvPr id="11" name="Rounded Rectangle 10"/>
          <p:cNvSpPr/>
          <p:nvPr/>
        </p:nvSpPr>
        <p:spPr>
          <a:xfrm>
            <a:off x="9052560" y="2057400"/>
            <a:ext cx="2450592" cy="731520"/>
          </a:xfrm>
          <a:prstGeom prst="roundRect">
            <a:avLst>
              <a:gd name="adj" fmla="val 7500"/>
            </a:avLst>
          </a:prstGeom>
          <a:solidFill>
            <a:srgbClr val="EDE9FE"/>
          </a:solidFill>
          <a:ln w="12700">
            <a:solidFill>
              <a:srgbClr val="EDE9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25712" y="2093976"/>
            <a:ext cx="2304288" cy="658368"/>
          </a:xfrm>
          <a:prstGeom prst="rect">
            <a:avLst/>
          </a:prstGeom>
          <a:noFill/>
        </p:spPr>
        <p:txBody>
          <a:bodyPr wrap="square" lIns="0" rIns="0" tIns="0" bIns="0" anchor="ctr">
            <a:spAutoFit/>
          </a:bodyPr>
          <a:lstStyle/>
          <a:p>
            <a:pPr algn="ctr">
              <a:spcAft>
                <a:spcPts val="100"/>
              </a:spcAft>
            </a:pPr>
            <a:r>
              <a:rPr sz="1200" b="1" i="0">
                <a:solidFill>
                  <a:srgbClr val="6D28D9"/>
                </a:solidFill>
                <a:latin typeface="Calibri"/>
              </a:rPr>
              <a:t>artifacts/</a:t>
            </a:r>
          </a:p>
          <a:p>
            <a:pPr algn="ctr">
              <a:spcAft>
                <a:spcPts val="100"/>
              </a:spcAft>
            </a:pPr>
            <a:r>
              <a:rPr sz="1050" b="0" i="0">
                <a:solidFill>
                  <a:srgbClr val="3F3F5A"/>
                </a:solidFill>
                <a:latin typeface="Calibri"/>
              </a:rPr>
              <a:t>11 plans · 130 phrasing vectors · catalog vectors</a:t>
            </a:r>
          </a:p>
        </p:txBody>
      </p:sp>
      <p:cxnSp>
        <p:nvCxnSpPr>
          <p:cNvPr id="13" name="Connector 12"/>
          <p:cNvCxnSpPr/>
          <p:nvPr/>
        </p:nvCxnSpPr>
        <p:spPr>
          <a:xfrm>
            <a:off x="3063240" y="2423160"/>
            <a:ext cx="36576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43600" y="2423160"/>
            <a:ext cx="36576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686800" y="2423160"/>
            <a:ext cx="36576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3017520"/>
            <a:ext cx="10789920" cy="256032"/>
          </a:xfrm>
          <a:prstGeom prst="rect">
            <a:avLst/>
          </a:prstGeom>
          <a:noFill/>
        </p:spPr>
        <p:txBody>
          <a:bodyPr wrap="square" lIns="0" rIns="0" tIns="0" bIns="0" anchor="t">
            <a:spAutoFit/>
          </a:bodyPr>
          <a:lstStyle/>
          <a:p>
            <a:pPr algn="l">
              <a:spcAft>
                <a:spcPts val="400"/>
              </a:spcAft>
            </a:pPr>
            <a:r>
              <a:rPr sz="1100" b="1" i="0">
                <a:solidFill>
                  <a:srgbClr val="1D4ED8"/>
                </a:solidFill>
                <a:latin typeface="Arial"/>
              </a:rPr>
              <a:t>RUNTIME · LOCAL, PER REQUEST  (POST /v1/troubleshoot)</a:t>
            </a:r>
          </a:p>
        </p:txBody>
      </p:sp>
      <p:sp>
        <p:nvSpPr>
          <p:cNvPr id="17" name="Rounded Rectangle 16"/>
          <p:cNvSpPr/>
          <p:nvPr/>
        </p:nvSpPr>
        <p:spPr>
          <a:xfrm>
            <a:off x="685800" y="3337560"/>
            <a:ext cx="1417320" cy="777240"/>
          </a:xfrm>
          <a:prstGeom prst="roundRect">
            <a:avLst>
              <a:gd name="adj" fmla="val 7058"/>
            </a:avLst>
          </a:prstGeom>
          <a:solidFill>
            <a:srgbClr val="FFFFFF"/>
          </a:solidFill>
          <a:ln w="12700">
            <a:solidFill>
              <a:srgbClr val="DDD8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8952" y="3374136"/>
            <a:ext cx="1271016" cy="704088"/>
          </a:xfrm>
          <a:prstGeom prst="rect">
            <a:avLst/>
          </a:prstGeom>
          <a:noFill/>
        </p:spPr>
        <p:txBody>
          <a:bodyPr wrap="square" lIns="0" rIns="0" tIns="0" bIns="0" anchor="ctr">
            <a:spAutoFit/>
          </a:bodyPr>
          <a:lstStyle/>
          <a:p>
            <a:pPr algn="ctr">
              <a:spcAft>
                <a:spcPts val="100"/>
              </a:spcAft>
            </a:pPr>
            <a:r>
              <a:rPr sz="1200" b="1" i="0">
                <a:solidFill>
                  <a:srgbClr val="14142B"/>
                </a:solidFill>
                <a:latin typeface="Calibri"/>
              </a:rPr>
              <a:t>Client / app</a:t>
            </a:r>
          </a:p>
          <a:p>
            <a:pPr algn="ctr">
              <a:spcAft>
                <a:spcPts val="100"/>
              </a:spcAft>
            </a:pPr>
            <a:r>
              <a:rPr sz="1050" b="0" i="0">
                <a:solidFill>
                  <a:srgbClr val="3F3F5A"/>
                </a:solidFill>
                <a:latin typeface="Calibri"/>
              </a:rPr>
              <a:t>complaint + optional article</a:t>
            </a:r>
          </a:p>
        </p:txBody>
      </p:sp>
      <p:sp>
        <p:nvSpPr>
          <p:cNvPr id="19" name="Rounded Rectangle 18"/>
          <p:cNvSpPr/>
          <p:nvPr/>
        </p:nvSpPr>
        <p:spPr>
          <a:xfrm>
            <a:off x="2331720" y="3337560"/>
            <a:ext cx="1508760" cy="777240"/>
          </a:xfrm>
          <a:prstGeom prst="roundRect">
            <a:avLst>
              <a:gd name="adj" fmla="val 7058"/>
            </a:avLst>
          </a:prstGeom>
          <a:solidFill>
            <a:srgbClr val="FFFFFF"/>
          </a:solidFill>
          <a:ln w="12700">
            <a:solidFill>
              <a:srgbClr val="DDD8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404872" y="3374136"/>
            <a:ext cx="1362456" cy="704088"/>
          </a:xfrm>
          <a:prstGeom prst="rect">
            <a:avLst/>
          </a:prstGeom>
          <a:noFill/>
        </p:spPr>
        <p:txBody>
          <a:bodyPr wrap="square" lIns="0" rIns="0" tIns="0" bIns="0" anchor="ctr">
            <a:spAutoFit/>
          </a:bodyPr>
          <a:lstStyle/>
          <a:p>
            <a:pPr algn="ctr">
              <a:spcAft>
                <a:spcPts val="100"/>
              </a:spcAft>
            </a:pPr>
            <a:r>
              <a:rPr sz="1200" b="1" i="0">
                <a:solidFill>
                  <a:srgbClr val="14142B"/>
                </a:solidFill>
                <a:latin typeface="Calibri"/>
              </a:rPr>
              <a:t>FastAPI</a:t>
            </a:r>
          </a:p>
          <a:p>
            <a:pPr algn="ctr">
              <a:spcAft>
                <a:spcPts val="100"/>
              </a:spcAft>
            </a:pPr>
            <a:r>
              <a:rPr sz="1050" b="0" i="0">
                <a:solidFill>
                  <a:srgbClr val="3F3F5A"/>
                </a:solidFill>
                <a:latin typeface="Calibri"/>
              </a:rPr>
              <a:t>request limits, error boundary</a:t>
            </a:r>
          </a:p>
        </p:txBody>
      </p:sp>
      <p:sp>
        <p:nvSpPr>
          <p:cNvPr id="21" name="Rounded Rectangle 20"/>
          <p:cNvSpPr/>
          <p:nvPr/>
        </p:nvSpPr>
        <p:spPr>
          <a:xfrm>
            <a:off x="4069080" y="3337560"/>
            <a:ext cx="1737360" cy="777240"/>
          </a:xfrm>
          <a:prstGeom prst="roundRect">
            <a:avLst>
              <a:gd name="adj" fmla="val 7058"/>
            </a:avLst>
          </a:prstGeom>
          <a:solidFill>
            <a:srgbClr val="FFFFFF"/>
          </a:solidFill>
          <a:ln w="12700">
            <a:solidFill>
              <a:srgbClr val="DDD8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142232" y="3374136"/>
            <a:ext cx="1591056" cy="704088"/>
          </a:xfrm>
          <a:prstGeom prst="rect">
            <a:avLst/>
          </a:prstGeom>
          <a:noFill/>
        </p:spPr>
        <p:txBody>
          <a:bodyPr wrap="square" lIns="0" rIns="0" tIns="0" bIns="0" anchor="ctr">
            <a:spAutoFit/>
          </a:bodyPr>
          <a:lstStyle/>
          <a:p>
            <a:pPr algn="ctr">
              <a:spcAft>
                <a:spcPts val="100"/>
              </a:spcAft>
            </a:pPr>
            <a:r>
              <a:rPr sz="1200" b="1" i="0">
                <a:solidFill>
                  <a:srgbClr val="14142B"/>
                </a:solidFill>
                <a:latin typeface="Calibri"/>
              </a:rPr>
              <a:t>Stage 0 · Normalise</a:t>
            </a:r>
          </a:p>
          <a:p>
            <a:pPr algn="ctr">
              <a:spcAft>
                <a:spcPts val="100"/>
              </a:spcAft>
            </a:pPr>
            <a:r>
              <a:rPr sz="1050" b="0" i="0">
                <a:solidFill>
                  <a:srgbClr val="3F3F5A"/>
                </a:solidFill>
                <a:latin typeface="Calibri"/>
              </a:rPr>
              <a:t>split into problems</a:t>
            </a:r>
          </a:p>
        </p:txBody>
      </p:sp>
      <p:cxnSp>
        <p:nvCxnSpPr>
          <p:cNvPr id="23" name="Connector 22"/>
          <p:cNvCxnSpPr/>
          <p:nvPr/>
        </p:nvCxnSpPr>
        <p:spPr>
          <a:xfrm>
            <a:off x="2103120" y="3721608"/>
            <a:ext cx="22860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840480" y="3721608"/>
            <a:ext cx="22860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sp>
        <p:nvSpPr>
          <p:cNvPr id="25" name="Diamond 24"/>
          <p:cNvSpPr/>
          <p:nvPr/>
        </p:nvSpPr>
        <p:spPr>
          <a:xfrm>
            <a:off x="6035040" y="3246120"/>
            <a:ext cx="1234440" cy="960120"/>
          </a:xfrm>
          <a:prstGeom prst="diamond">
            <a:avLst/>
          </a:prstGeom>
          <a:solidFill>
            <a:srgbClr val="FEF3C7"/>
          </a:solidFill>
          <a:ln>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3246120"/>
            <a:ext cx="1234440" cy="960120"/>
          </a:xfrm>
          <a:prstGeom prst="rect">
            <a:avLst/>
          </a:prstGeom>
          <a:noFill/>
        </p:spPr>
        <p:txBody>
          <a:bodyPr wrap="square" lIns="0" rIns="0" tIns="0" bIns="0" anchor="ctr">
            <a:spAutoFit/>
          </a:bodyPr>
          <a:lstStyle/>
          <a:p>
            <a:pPr algn="ctr">
              <a:spcAft>
                <a:spcPts val="0"/>
              </a:spcAft>
            </a:pPr>
            <a:r>
              <a:rPr sz="1100" b="1" i="0">
                <a:solidFill>
                  <a:srgbClr val="14142B"/>
                </a:solidFill>
                <a:latin typeface="Calibri"/>
              </a:rPr>
              <a:t>Article</a:t>
            </a:r>
          </a:p>
          <a:p>
            <a:pPr algn="ctr">
              <a:spcAft>
                <a:spcPts val="0"/>
              </a:spcAft>
            </a:pPr>
            <a:r>
              <a:rPr sz="1100" b="1" i="0">
                <a:solidFill>
                  <a:srgbClr val="14142B"/>
                </a:solidFill>
                <a:latin typeface="Calibri"/>
              </a:rPr>
              <a:t>sent?</a:t>
            </a:r>
          </a:p>
        </p:txBody>
      </p:sp>
      <p:cxnSp>
        <p:nvCxnSpPr>
          <p:cNvPr id="27" name="Connector 26"/>
          <p:cNvCxnSpPr/>
          <p:nvPr/>
        </p:nvCxnSpPr>
        <p:spPr>
          <a:xfrm>
            <a:off x="5806440" y="3721608"/>
            <a:ext cx="22860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589520" y="3337560"/>
            <a:ext cx="2103120" cy="777240"/>
          </a:xfrm>
          <a:prstGeom prst="roundRect">
            <a:avLst>
              <a:gd name="adj" fmla="val 7058"/>
            </a:avLst>
          </a:prstGeom>
          <a:solidFill>
            <a:srgbClr val="DBEAFE"/>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662672" y="3374136"/>
            <a:ext cx="1956815" cy="704088"/>
          </a:xfrm>
          <a:prstGeom prst="rect">
            <a:avLst/>
          </a:prstGeom>
          <a:noFill/>
        </p:spPr>
        <p:txBody>
          <a:bodyPr wrap="square" lIns="0" rIns="0" tIns="0" bIns="0" anchor="ctr">
            <a:spAutoFit/>
          </a:bodyPr>
          <a:lstStyle/>
          <a:p>
            <a:pPr algn="ctr">
              <a:spcAft>
                <a:spcPts val="100"/>
              </a:spcAft>
            </a:pPr>
            <a:r>
              <a:rPr sz="1200" b="1" i="0">
                <a:solidFill>
                  <a:srgbClr val="1D4ED8"/>
                </a:solidFill>
                <a:latin typeface="Calibri"/>
              </a:rPr>
              <a:t>Stage 1 · Semantic cache</a:t>
            </a:r>
          </a:p>
          <a:p>
            <a:pPr algn="ctr">
              <a:spcAft>
                <a:spcPts val="100"/>
              </a:spcAft>
            </a:pPr>
            <a:r>
              <a:rPr sz="1050" b="0" i="0">
                <a:solidFill>
                  <a:srgbClr val="3F3F5A"/>
                </a:solidFill>
                <a:latin typeface="Calibri"/>
              </a:rPr>
              <a:t>bge-small · two-factor match · out-of-scope anchors</a:t>
            </a:r>
          </a:p>
        </p:txBody>
      </p:sp>
      <p:cxnSp>
        <p:nvCxnSpPr>
          <p:cNvPr id="30" name="Connector 29"/>
          <p:cNvCxnSpPr/>
          <p:nvPr/>
        </p:nvCxnSpPr>
        <p:spPr>
          <a:xfrm>
            <a:off x="7269480" y="3721608"/>
            <a:ext cx="32004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296912" y="3410712"/>
            <a:ext cx="320040" cy="228600"/>
          </a:xfrm>
          <a:prstGeom prst="rect">
            <a:avLst/>
          </a:prstGeom>
          <a:noFill/>
        </p:spPr>
        <p:txBody>
          <a:bodyPr wrap="square" lIns="0" rIns="0" tIns="0" bIns="0" anchor="t">
            <a:spAutoFit/>
          </a:bodyPr>
          <a:lstStyle/>
          <a:p>
            <a:pPr algn="l">
              <a:spcAft>
                <a:spcPts val="400"/>
              </a:spcAft>
            </a:pPr>
            <a:r>
              <a:rPr sz="1000" b="0" i="0">
                <a:solidFill>
                  <a:srgbClr val="63637E"/>
                </a:solidFill>
                <a:latin typeface="Calibri"/>
              </a:rPr>
              <a:t>no</a:t>
            </a:r>
          </a:p>
        </p:txBody>
      </p:sp>
      <p:sp>
        <p:nvSpPr>
          <p:cNvPr id="32" name="Rounded Rectangle 31"/>
          <p:cNvSpPr/>
          <p:nvPr/>
        </p:nvSpPr>
        <p:spPr>
          <a:xfrm>
            <a:off x="9921240" y="3337560"/>
            <a:ext cx="1581912" cy="777240"/>
          </a:xfrm>
          <a:prstGeom prst="roundRect">
            <a:avLst>
              <a:gd name="adj" fmla="val 7058"/>
            </a:avLst>
          </a:prstGeom>
          <a:solidFill>
            <a:srgbClr val="CCFBF1"/>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994392" y="3374136"/>
            <a:ext cx="1435608" cy="704088"/>
          </a:xfrm>
          <a:prstGeom prst="rect">
            <a:avLst/>
          </a:prstGeom>
          <a:noFill/>
        </p:spPr>
        <p:txBody>
          <a:bodyPr wrap="square" lIns="0" rIns="0" tIns="0" bIns="0" anchor="ctr">
            <a:spAutoFit/>
          </a:bodyPr>
          <a:lstStyle/>
          <a:p>
            <a:pPr algn="ctr">
              <a:spcAft>
                <a:spcPts val="100"/>
              </a:spcAft>
            </a:pPr>
            <a:r>
              <a:rPr sz="1200" b="1" i="0">
                <a:solidFill>
                  <a:srgbClr val="0F766E"/>
                </a:solidFill>
                <a:latin typeface="Calibri"/>
              </a:rPr>
              <a:t>Cached plan</a:t>
            </a:r>
          </a:p>
          <a:p>
            <a:pPr algn="ctr">
              <a:spcAft>
                <a:spcPts val="100"/>
              </a:spcAft>
            </a:pPr>
            <a:r>
              <a:rPr sz="1050" b="0" i="0">
                <a:solidFill>
                  <a:srgbClr val="3F3F5A"/>
                </a:solidFill>
                <a:latin typeface="Calibri"/>
              </a:rPr>
              <a:t>13.7 ms P95 · no model</a:t>
            </a:r>
          </a:p>
        </p:txBody>
      </p:sp>
      <p:cxnSp>
        <p:nvCxnSpPr>
          <p:cNvPr id="34" name="Connector 33"/>
          <p:cNvCxnSpPr/>
          <p:nvPr/>
        </p:nvCxnSpPr>
        <p:spPr>
          <a:xfrm>
            <a:off x="9692640" y="3721608"/>
            <a:ext cx="22860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8778240" y="2788920"/>
            <a:ext cx="1463040" cy="548640"/>
          </a:xfrm>
          <a:prstGeom prst="line">
            <a:avLst/>
          </a:prstGeom>
          <a:ln w="15875">
            <a:solidFill>
              <a:srgbClr val="A8A3BF"/>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332720" y="2971800"/>
            <a:ext cx="1188720" cy="228600"/>
          </a:xfrm>
          <a:prstGeom prst="rect">
            <a:avLst/>
          </a:prstGeom>
          <a:noFill/>
        </p:spPr>
        <p:txBody>
          <a:bodyPr wrap="square" lIns="0" rIns="0" tIns="0" bIns="0" anchor="t">
            <a:spAutoFit/>
          </a:bodyPr>
          <a:lstStyle/>
          <a:p>
            <a:pPr algn="l">
              <a:spcAft>
                <a:spcPts val="400"/>
              </a:spcAft>
            </a:pPr>
            <a:r>
              <a:rPr sz="950" b="0" i="1">
                <a:solidFill>
                  <a:srgbClr val="63637E"/>
                </a:solidFill>
                <a:latin typeface="Calibri"/>
              </a:rPr>
              <a:t>loaded at startup</a:t>
            </a:r>
          </a:p>
        </p:txBody>
      </p:sp>
      <p:cxnSp>
        <p:nvCxnSpPr>
          <p:cNvPr id="37" name="Connector 36"/>
          <p:cNvCxnSpPr/>
          <p:nvPr/>
        </p:nvCxnSpPr>
        <p:spPr>
          <a:xfrm>
            <a:off x="6647688" y="4206240"/>
            <a:ext cx="0" cy="274320"/>
          </a:xfrm>
          <a:prstGeom prst="line">
            <a:avLst/>
          </a:prstGeom>
          <a:ln w="19050">
            <a:solidFill>
              <a:srgbClr val="63637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737360" y="4480560"/>
            <a:ext cx="4910328" cy="0"/>
          </a:xfrm>
          <a:prstGeom prst="line">
            <a:avLst/>
          </a:prstGeom>
          <a:ln w="19050">
            <a:solidFill>
              <a:srgbClr val="63637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737360" y="4480560"/>
            <a:ext cx="0" cy="32004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720840" y="4224528"/>
            <a:ext cx="365760" cy="228600"/>
          </a:xfrm>
          <a:prstGeom prst="rect">
            <a:avLst/>
          </a:prstGeom>
          <a:noFill/>
        </p:spPr>
        <p:txBody>
          <a:bodyPr wrap="square" lIns="0" rIns="0" tIns="0" bIns="0" anchor="t">
            <a:spAutoFit/>
          </a:bodyPr>
          <a:lstStyle/>
          <a:p>
            <a:pPr algn="l">
              <a:spcAft>
                <a:spcPts val="400"/>
              </a:spcAft>
            </a:pPr>
            <a:r>
              <a:rPr sz="1000" b="0" i="0">
                <a:solidFill>
                  <a:srgbClr val="63637E"/>
                </a:solidFill>
                <a:latin typeface="Calibri"/>
              </a:rPr>
              <a:t>yes</a:t>
            </a:r>
          </a:p>
        </p:txBody>
      </p:sp>
      <p:sp>
        <p:nvSpPr>
          <p:cNvPr id="41" name="Rounded Rectangle 40"/>
          <p:cNvSpPr/>
          <p:nvPr/>
        </p:nvSpPr>
        <p:spPr>
          <a:xfrm>
            <a:off x="685800" y="4800600"/>
            <a:ext cx="2103120" cy="777240"/>
          </a:xfrm>
          <a:prstGeom prst="roundRect">
            <a:avLst>
              <a:gd name="adj" fmla="val 7058"/>
            </a:avLst>
          </a:prstGeom>
          <a:solidFill>
            <a:srgbClr val="FFFFFF"/>
          </a:solidFill>
          <a:ln w="12700">
            <a:solidFill>
              <a:srgbClr val="DDD8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58952" y="4837176"/>
            <a:ext cx="1956815" cy="704088"/>
          </a:xfrm>
          <a:prstGeom prst="rect">
            <a:avLst/>
          </a:prstGeom>
          <a:noFill/>
        </p:spPr>
        <p:txBody>
          <a:bodyPr wrap="square" lIns="0" rIns="0" tIns="0" bIns="0" anchor="ctr">
            <a:spAutoFit/>
          </a:bodyPr>
          <a:lstStyle/>
          <a:p>
            <a:pPr algn="ctr">
              <a:spcAft>
                <a:spcPts val="100"/>
              </a:spcAft>
            </a:pPr>
            <a:r>
              <a:rPr sz="1200" b="1" i="0">
                <a:solidFill>
                  <a:srgbClr val="14142B"/>
                </a:solidFill>
                <a:latin typeface="Calibri"/>
              </a:rPr>
              <a:t>Article seen before?</a:t>
            </a:r>
          </a:p>
          <a:p>
            <a:pPr algn="ctr">
              <a:spcAft>
                <a:spcPts val="100"/>
              </a:spcAft>
            </a:pPr>
            <a:r>
              <a:rPr sz="1050" b="0" i="0">
                <a:solidFill>
                  <a:srgbClr val="3F3F5A"/>
                </a:solidFill>
                <a:latin typeface="Calibri"/>
              </a:rPr>
              <a:t>yes → its stored plan, no model call</a:t>
            </a:r>
          </a:p>
        </p:txBody>
      </p:sp>
      <p:sp>
        <p:nvSpPr>
          <p:cNvPr id="43" name="Rounded Rectangle 42"/>
          <p:cNvSpPr/>
          <p:nvPr/>
        </p:nvSpPr>
        <p:spPr>
          <a:xfrm>
            <a:off x="3063240" y="4800600"/>
            <a:ext cx="2057400" cy="777240"/>
          </a:xfrm>
          <a:prstGeom prst="roundRect">
            <a:avLst>
              <a:gd name="adj" fmla="val 7058"/>
            </a:avLst>
          </a:prstGeom>
          <a:solidFill>
            <a:srgbClr val="DBEAFE"/>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3136392" y="4837176"/>
            <a:ext cx="1911095" cy="704088"/>
          </a:xfrm>
          <a:prstGeom prst="rect">
            <a:avLst/>
          </a:prstGeom>
          <a:noFill/>
        </p:spPr>
        <p:txBody>
          <a:bodyPr wrap="square" lIns="0" rIns="0" tIns="0" bIns="0" anchor="ctr">
            <a:spAutoFit/>
          </a:bodyPr>
          <a:lstStyle/>
          <a:p>
            <a:pPr algn="ctr">
              <a:spcAft>
                <a:spcPts val="100"/>
              </a:spcAft>
            </a:pPr>
            <a:r>
              <a:rPr sz="1200" b="1" i="0">
                <a:solidFill>
                  <a:srgbClr val="1D4ED8"/>
                </a:solidFill>
                <a:latin typeface="Calibri"/>
              </a:rPr>
              <a:t>Stage 2 · Local LLM</a:t>
            </a:r>
          </a:p>
          <a:p>
            <a:pPr algn="ctr">
              <a:spcAft>
                <a:spcPts val="100"/>
              </a:spcAft>
            </a:pPr>
            <a:r>
              <a:rPr sz="1050" b="0" i="0">
                <a:solidFill>
                  <a:srgbClr val="3F3F5A"/>
                </a:solidFill>
                <a:latin typeface="Calibri"/>
              </a:rPr>
              <a:t>qwen2.5:1.5b (Ollama) picks step numbers, JSON grammar</a:t>
            </a:r>
          </a:p>
        </p:txBody>
      </p:sp>
      <p:sp>
        <p:nvSpPr>
          <p:cNvPr id="45" name="Rounded Rectangle 44"/>
          <p:cNvSpPr/>
          <p:nvPr/>
        </p:nvSpPr>
        <p:spPr>
          <a:xfrm>
            <a:off x="5394960" y="4800600"/>
            <a:ext cx="1828800" cy="777240"/>
          </a:xfrm>
          <a:prstGeom prst="roundRect">
            <a:avLst>
              <a:gd name="adj" fmla="val 7058"/>
            </a:avLst>
          </a:prstGeom>
          <a:solidFill>
            <a:srgbClr val="DBEAFE"/>
          </a:solidFill>
          <a:ln w="12700">
            <a:solidFill>
              <a:srgbClr val="DBEA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5468112" y="4837176"/>
            <a:ext cx="1682496" cy="704088"/>
          </a:xfrm>
          <a:prstGeom prst="rect">
            <a:avLst/>
          </a:prstGeom>
          <a:noFill/>
        </p:spPr>
        <p:txBody>
          <a:bodyPr wrap="square" lIns="0" rIns="0" tIns="0" bIns="0" anchor="ctr">
            <a:spAutoFit/>
          </a:bodyPr>
          <a:lstStyle/>
          <a:p>
            <a:pPr algn="ctr">
              <a:spcAft>
                <a:spcPts val="100"/>
              </a:spcAft>
            </a:pPr>
            <a:r>
              <a:rPr sz="1200" b="1" i="0">
                <a:solidFill>
                  <a:srgbClr val="1D4ED8"/>
                </a:solidFill>
                <a:latin typeface="Calibri"/>
              </a:rPr>
              <a:t>Stage 3 · Retriever</a:t>
            </a:r>
          </a:p>
          <a:p>
            <a:pPr algn="ctr">
              <a:spcAft>
                <a:spcPts val="100"/>
              </a:spcAft>
            </a:pPr>
            <a:r>
              <a:rPr sz="1050" b="0" i="0">
                <a:solidFill>
                  <a:srgbClr val="3F3F5A"/>
                </a:solidFill>
                <a:latin typeface="Calibri"/>
              </a:rPr>
              <a:t>BM25 + dense → catalog deeplink</a:t>
            </a:r>
          </a:p>
        </p:txBody>
      </p:sp>
      <p:sp>
        <p:nvSpPr>
          <p:cNvPr id="47" name="Rounded Rectangle 46"/>
          <p:cNvSpPr/>
          <p:nvPr/>
        </p:nvSpPr>
        <p:spPr>
          <a:xfrm>
            <a:off x="7498079" y="4800600"/>
            <a:ext cx="1325880" cy="777240"/>
          </a:xfrm>
          <a:prstGeom prst="roundRect">
            <a:avLst>
              <a:gd name="adj" fmla="val 7058"/>
            </a:avLst>
          </a:prstGeom>
          <a:solidFill>
            <a:srgbClr val="FFFFFF"/>
          </a:solidFill>
          <a:ln w="12700">
            <a:solidFill>
              <a:srgbClr val="DDD8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571231" y="4837176"/>
            <a:ext cx="1179576" cy="704088"/>
          </a:xfrm>
          <a:prstGeom prst="rect">
            <a:avLst/>
          </a:prstGeom>
          <a:noFill/>
        </p:spPr>
        <p:txBody>
          <a:bodyPr wrap="square" lIns="0" rIns="0" tIns="0" bIns="0" anchor="ctr">
            <a:spAutoFit/>
          </a:bodyPr>
          <a:lstStyle/>
          <a:p>
            <a:pPr algn="ctr">
              <a:spcAft>
                <a:spcPts val="100"/>
              </a:spcAft>
            </a:pPr>
            <a:r>
              <a:rPr sz="1200" b="1" i="0">
                <a:solidFill>
                  <a:srgbClr val="14142B"/>
                </a:solidFill>
                <a:latin typeface="Calibri"/>
              </a:rPr>
              <a:t>Stage 4 · Order</a:t>
            </a:r>
          </a:p>
          <a:p>
            <a:pPr algn="ctr">
              <a:spcAft>
                <a:spcPts val="100"/>
              </a:spcAft>
            </a:pPr>
            <a:r>
              <a:rPr sz="1050" b="0" i="0">
                <a:solidFill>
                  <a:srgbClr val="3F3F5A"/>
                </a:solidFill>
                <a:latin typeface="Calibri"/>
              </a:rPr>
              <a:t>least disruptive first</a:t>
            </a:r>
          </a:p>
        </p:txBody>
      </p:sp>
      <p:sp>
        <p:nvSpPr>
          <p:cNvPr id="49" name="Rounded Rectangle 48"/>
          <p:cNvSpPr/>
          <p:nvPr/>
        </p:nvSpPr>
        <p:spPr>
          <a:xfrm>
            <a:off x="9098280" y="4800600"/>
            <a:ext cx="1188720" cy="777240"/>
          </a:xfrm>
          <a:prstGeom prst="roundRect">
            <a:avLst>
              <a:gd name="adj" fmla="val 7058"/>
            </a:avLst>
          </a:prstGeom>
          <a:solidFill>
            <a:srgbClr val="FFFFFF"/>
          </a:solidFill>
          <a:ln w="12700">
            <a:solidFill>
              <a:srgbClr val="DDD8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9171432" y="4837176"/>
            <a:ext cx="1042416" cy="704088"/>
          </a:xfrm>
          <a:prstGeom prst="rect">
            <a:avLst/>
          </a:prstGeom>
          <a:noFill/>
        </p:spPr>
        <p:txBody>
          <a:bodyPr wrap="square" lIns="0" rIns="0" tIns="0" bIns="0" anchor="ctr">
            <a:spAutoFit/>
          </a:bodyPr>
          <a:lstStyle/>
          <a:p>
            <a:pPr algn="ctr">
              <a:spcAft>
                <a:spcPts val="100"/>
              </a:spcAft>
            </a:pPr>
            <a:r>
              <a:rPr sz="1200" b="1" i="0">
                <a:solidFill>
                  <a:srgbClr val="14142B"/>
                </a:solidFill>
                <a:latin typeface="Calibri"/>
              </a:rPr>
              <a:t>Stage 5 · Gates</a:t>
            </a:r>
          </a:p>
          <a:p>
            <a:pPr algn="ctr">
              <a:spcAft>
                <a:spcPts val="100"/>
              </a:spcAft>
            </a:pPr>
            <a:r>
              <a:rPr sz="1050" b="0" i="0">
                <a:solidFill>
                  <a:srgbClr val="3F3F5A"/>
                </a:solidFill>
                <a:latin typeface="Calibri"/>
              </a:rPr>
              <a:t>G0–G16, URL scrub</a:t>
            </a:r>
          </a:p>
        </p:txBody>
      </p:sp>
      <p:sp>
        <p:nvSpPr>
          <p:cNvPr id="51" name="Rounded Rectangle 50"/>
          <p:cNvSpPr/>
          <p:nvPr/>
        </p:nvSpPr>
        <p:spPr>
          <a:xfrm>
            <a:off x="10515600" y="4800600"/>
            <a:ext cx="987552" cy="777240"/>
          </a:xfrm>
          <a:prstGeom prst="roundRect">
            <a:avLst>
              <a:gd name="adj" fmla="val 7058"/>
            </a:avLst>
          </a:prstGeom>
          <a:solidFill>
            <a:srgbClr val="CCFBF1"/>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0588752" y="4837176"/>
            <a:ext cx="841248" cy="704088"/>
          </a:xfrm>
          <a:prstGeom prst="rect">
            <a:avLst/>
          </a:prstGeom>
          <a:noFill/>
        </p:spPr>
        <p:txBody>
          <a:bodyPr wrap="square" lIns="0" rIns="0" tIns="0" bIns="0" anchor="ctr">
            <a:spAutoFit/>
          </a:bodyPr>
          <a:lstStyle/>
          <a:p>
            <a:pPr algn="ctr">
              <a:spcAft>
                <a:spcPts val="100"/>
              </a:spcAft>
            </a:pPr>
            <a:r>
              <a:rPr sz="1200" b="1" i="0">
                <a:solidFill>
                  <a:srgbClr val="0F766E"/>
                </a:solidFill>
                <a:latin typeface="Calibri"/>
              </a:rPr>
              <a:t>Live plan</a:t>
            </a:r>
          </a:p>
          <a:p>
            <a:pPr algn="ctr">
              <a:spcAft>
                <a:spcPts val="100"/>
              </a:spcAft>
            </a:pPr>
            <a:r>
              <a:rPr sz="1050" b="0" i="0">
                <a:solidFill>
                  <a:srgbClr val="3F3F5A"/>
                </a:solidFill>
                <a:latin typeface="Calibri"/>
              </a:rPr>
              <a:t>4.4 s P95</a:t>
            </a:r>
          </a:p>
        </p:txBody>
      </p:sp>
      <p:cxnSp>
        <p:nvCxnSpPr>
          <p:cNvPr id="53" name="Connector 52"/>
          <p:cNvCxnSpPr/>
          <p:nvPr/>
        </p:nvCxnSpPr>
        <p:spPr>
          <a:xfrm>
            <a:off x="2788920" y="5184648"/>
            <a:ext cx="27432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2816352" y="5230368"/>
            <a:ext cx="274320" cy="228600"/>
          </a:xfrm>
          <a:prstGeom prst="rect">
            <a:avLst/>
          </a:prstGeom>
          <a:noFill/>
        </p:spPr>
        <p:txBody>
          <a:bodyPr wrap="square" lIns="0" rIns="0" tIns="0" bIns="0" anchor="t">
            <a:spAutoFit/>
          </a:bodyPr>
          <a:lstStyle/>
          <a:p>
            <a:pPr algn="l">
              <a:spcAft>
                <a:spcPts val="400"/>
              </a:spcAft>
            </a:pPr>
            <a:r>
              <a:rPr sz="1000" b="0" i="0">
                <a:solidFill>
                  <a:srgbClr val="63637E"/>
                </a:solidFill>
                <a:latin typeface="Calibri"/>
              </a:rPr>
              <a:t>no</a:t>
            </a:r>
          </a:p>
        </p:txBody>
      </p:sp>
      <p:cxnSp>
        <p:nvCxnSpPr>
          <p:cNvPr id="55" name="Connector 54"/>
          <p:cNvCxnSpPr/>
          <p:nvPr/>
        </p:nvCxnSpPr>
        <p:spPr>
          <a:xfrm>
            <a:off x="5120640" y="5184648"/>
            <a:ext cx="27432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223760" y="5184648"/>
            <a:ext cx="274319"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823960" y="5184648"/>
            <a:ext cx="27432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287000" y="5184648"/>
            <a:ext cx="228600" cy="0"/>
          </a:xfrm>
          <a:prstGeom prst="line">
            <a:avLst/>
          </a:prstGeom>
          <a:ln w="19050">
            <a:solidFill>
              <a:srgbClr val="63637E"/>
            </a:solidFill>
            <a:tailEnd type="triangle"/>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85800" y="5806440"/>
            <a:ext cx="10817352" cy="640080"/>
          </a:xfrm>
          <a:prstGeom prst="rect">
            <a:avLst/>
          </a:prstGeom>
          <a:noFill/>
        </p:spPr>
        <p:txBody>
          <a:bodyPr wrap="square" lIns="0" rIns="0" tIns="0" bIns="0" anchor="t">
            <a:spAutoFit/>
          </a:bodyPr>
          <a:lstStyle/>
          <a:p>
            <a:pPr algn="l">
              <a:spcAft>
                <a:spcPts val="400"/>
              </a:spcAft>
            </a:pPr>
            <a:r>
              <a:rPr sz="1250" b="1" i="0">
                <a:solidFill>
                  <a:srgbClr val="14142B"/>
                </a:solidFill>
                <a:latin typeface="Calibri"/>
              </a:rPr>
              <a:t>Output: </a:t>
            </a:r>
            <a:r>
              <a:rPr sz="1250" b="0" i="0">
                <a:solidFill>
                  <a:srgbClr val="3F3F5A"/>
                </a:solidFill>
                <a:latin typeface="Calibri"/>
              </a:rPr>
              <a:t>schema-valid JSON with every action, its steps and deeplinks, plus query_variations and meta (latency, cache hit, model, cost, tokens). Out of scope or no valid plan → an honest empty-plan fallback. No hosted model is called at runtime.</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TextBox 2"/>
          <p:cNvSpPr txBox="1"/>
          <p:nvPr/>
        </p:nvSpPr>
        <p:spPr>
          <a:xfrm>
            <a:off x="685800" y="1371600"/>
            <a:ext cx="10789920" cy="365760"/>
          </a:xfrm>
          <a:prstGeom prst="rect">
            <a:avLst/>
          </a:prstGeom>
          <a:noFill/>
        </p:spPr>
        <p:txBody>
          <a:bodyPr wrap="square" lIns="0" rIns="0" tIns="0" bIns="0" anchor="t">
            <a:spAutoFit/>
          </a:bodyPr>
          <a:lstStyle/>
          <a:p>
            <a:pPr algn="l">
              <a:spcAft>
                <a:spcPts val="400"/>
              </a:spcAft>
            </a:pPr>
            <a:r>
              <a:rPr sz="1500" b="0" i="0">
                <a:solidFill>
                  <a:srgbClr val="63637E"/>
                </a:solidFill>
                <a:latin typeface="Calibri"/>
              </a:rPr>
              <a:t>The real system on a laptop: python scripts/demo.py opens a demo page on the actual API</a:t>
            </a:r>
          </a:p>
        </p:txBody>
      </p:sp>
      <p:pic>
        <p:nvPicPr>
          <p:cNvPr id="4" name="Picture 3" descr="demo.png"/>
          <p:cNvPicPr>
            <a:picLocks noChangeAspect="1"/>
          </p:cNvPicPr>
          <p:nvPr/>
        </p:nvPicPr>
        <p:blipFill>
          <a:blip r:embed="rId2"/>
          <a:stretch>
            <a:fillRect/>
          </a:stretch>
        </p:blipFill>
        <p:spPr>
          <a:xfrm>
            <a:off x="685800" y="1783080"/>
            <a:ext cx="6583680" cy="4114800"/>
          </a:xfrm>
          <a:prstGeom prst="rect">
            <a:avLst/>
          </a:prstGeom>
          <a:ln w="9525">
            <a:solidFill>
              <a:srgbClr val="DDD8EE"/>
            </a:solidFill>
          </a:ln>
        </p:spPr>
      </p:pic>
      <p:sp>
        <p:nvSpPr>
          <p:cNvPr id="5" name="TextBox 4"/>
          <p:cNvSpPr txBox="1"/>
          <p:nvPr/>
        </p:nvSpPr>
        <p:spPr>
          <a:xfrm>
            <a:off x="7589520" y="1783080"/>
            <a:ext cx="393192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Walkthrough: typed like a real user</a:t>
            </a:r>
          </a:p>
        </p:txBody>
      </p:sp>
      <p:sp>
        <p:nvSpPr>
          <p:cNvPr id="6" name="Oval 5"/>
          <p:cNvSpPr/>
          <p:nvPr/>
        </p:nvSpPr>
        <p:spPr>
          <a:xfrm>
            <a:off x="7589520" y="2221991"/>
            <a:ext cx="310896" cy="310896"/>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1</a:t>
            </a:r>
          </a:p>
        </p:txBody>
      </p:sp>
      <p:sp>
        <p:nvSpPr>
          <p:cNvPr id="7" name="TextBox 6"/>
          <p:cNvSpPr txBox="1"/>
          <p:nvPr/>
        </p:nvSpPr>
        <p:spPr>
          <a:xfrm>
            <a:off x="8028431" y="2194560"/>
            <a:ext cx="3520440" cy="457200"/>
          </a:xfrm>
          <a:prstGeom prst="rect">
            <a:avLst/>
          </a:prstGeom>
          <a:noFill/>
        </p:spPr>
        <p:txBody>
          <a:bodyPr wrap="square" lIns="0" rIns="0" tIns="0" bIns="0" anchor="t">
            <a:spAutoFit/>
          </a:bodyPr>
          <a:lstStyle/>
          <a:p>
            <a:pPr algn="l">
              <a:spcAft>
                <a:spcPts val="0"/>
              </a:spcAft>
            </a:pPr>
            <a:r>
              <a:rPr sz="1150" b="1" i="0">
                <a:solidFill>
                  <a:srgbClr val="14142B"/>
                </a:solidFill>
                <a:latin typeface="Calibri"/>
              </a:rPr>
              <a:t>“tapping takes forever to register”</a:t>
            </a:r>
          </a:p>
          <a:p>
            <a:pPr algn="l">
              <a:spcAft>
                <a:spcPts val="0"/>
              </a:spcAft>
            </a:pPr>
            <a:r>
              <a:rPr sz="1050" b="0" i="0">
                <a:solidFill>
                  <a:srgbClr val="3F3F5A"/>
                </a:solidFill>
                <a:latin typeface="Calibri"/>
              </a:rPr>
              <a:t>cached plan in milliseconds</a:t>
            </a:r>
          </a:p>
        </p:txBody>
      </p:sp>
      <p:sp>
        <p:nvSpPr>
          <p:cNvPr id="8" name="Oval 7"/>
          <p:cNvSpPr/>
          <p:nvPr/>
        </p:nvSpPr>
        <p:spPr>
          <a:xfrm>
            <a:off x="7589520" y="2697479"/>
            <a:ext cx="310896" cy="310896"/>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2</a:t>
            </a:r>
          </a:p>
        </p:txBody>
      </p:sp>
      <p:sp>
        <p:nvSpPr>
          <p:cNvPr id="9" name="TextBox 8"/>
          <p:cNvSpPr txBox="1"/>
          <p:nvPr/>
        </p:nvSpPr>
        <p:spPr>
          <a:xfrm>
            <a:off x="8028431" y="2670048"/>
            <a:ext cx="3520440" cy="457200"/>
          </a:xfrm>
          <a:prstGeom prst="rect">
            <a:avLst/>
          </a:prstGeom>
          <a:noFill/>
        </p:spPr>
        <p:txBody>
          <a:bodyPr wrap="square" lIns="0" rIns="0" tIns="0" bIns="0" anchor="t">
            <a:spAutoFit/>
          </a:bodyPr>
          <a:lstStyle/>
          <a:p>
            <a:pPr algn="l">
              <a:spcAft>
                <a:spcPts val="0"/>
              </a:spcAft>
            </a:pPr>
            <a:r>
              <a:rPr sz="1150" b="1" i="0">
                <a:solidFill>
                  <a:srgbClr val="14142B"/>
                </a:solidFill>
                <a:latin typeface="Calibri"/>
              </a:rPr>
              <a:t>“phone lags when i tap anything”</a:t>
            </a:r>
          </a:p>
          <a:p>
            <a:pPr algn="l">
              <a:spcAft>
                <a:spcPts val="0"/>
              </a:spcAft>
            </a:pPr>
            <a:r>
              <a:rPr sz="1050" b="0" i="0">
                <a:solidFill>
                  <a:srgbClr val="3F3F5A"/>
                </a:solidFill>
                <a:latin typeface="Calibri"/>
              </a:rPr>
              <a:t>same plan, different words</a:t>
            </a:r>
          </a:p>
        </p:txBody>
      </p:sp>
      <p:sp>
        <p:nvSpPr>
          <p:cNvPr id="10" name="Oval 9"/>
          <p:cNvSpPr/>
          <p:nvPr/>
        </p:nvSpPr>
        <p:spPr>
          <a:xfrm>
            <a:off x="7589520" y="3172968"/>
            <a:ext cx="310896" cy="310896"/>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3</a:t>
            </a:r>
          </a:p>
        </p:txBody>
      </p:sp>
      <p:sp>
        <p:nvSpPr>
          <p:cNvPr id="11" name="TextBox 10"/>
          <p:cNvSpPr txBox="1"/>
          <p:nvPr/>
        </p:nvSpPr>
        <p:spPr>
          <a:xfrm>
            <a:off x="8028431" y="3145536"/>
            <a:ext cx="3520440" cy="457200"/>
          </a:xfrm>
          <a:prstGeom prst="rect">
            <a:avLst/>
          </a:prstGeom>
          <a:noFill/>
        </p:spPr>
        <p:txBody>
          <a:bodyPr wrap="square" lIns="0" rIns="0" tIns="0" bIns="0" anchor="t">
            <a:spAutoFit/>
          </a:bodyPr>
          <a:lstStyle/>
          <a:p>
            <a:pPr algn="l">
              <a:spcAft>
                <a:spcPts val="0"/>
              </a:spcAft>
            </a:pPr>
            <a:r>
              <a:rPr sz="1150" b="1" i="0">
                <a:solidFill>
                  <a:srgbClr val="14142B"/>
                </a:solidFill>
                <a:latin typeface="Calibri"/>
              </a:rPr>
              <a:t>“screen flickering like crazy”</a:t>
            </a:r>
          </a:p>
          <a:p>
            <a:pPr algn="l">
              <a:spcAft>
                <a:spcPts val="0"/>
              </a:spcAft>
            </a:pPr>
            <a:r>
              <a:rPr sz="1050" b="0" i="0">
                <a:solidFill>
                  <a:srgbClr val="3F3F5A"/>
                </a:solidFill>
                <a:latin typeface="Calibri"/>
              </a:rPr>
              <a:t>a different plan</a:t>
            </a:r>
          </a:p>
        </p:txBody>
      </p:sp>
      <p:sp>
        <p:nvSpPr>
          <p:cNvPr id="12" name="Oval 11"/>
          <p:cNvSpPr/>
          <p:nvPr/>
        </p:nvSpPr>
        <p:spPr>
          <a:xfrm>
            <a:off x="7589520" y="3648456"/>
            <a:ext cx="310896" cy="310896"/>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4</a:t>
            </a:r>
          </a:p>
        </p:txBody>
      </p:sp>
      <p:sp>
        <p:nvSpPr>
          <p:cNvPr id="13" name="TextBox 12"/>
          <p:cNvSpPr txBox="1"/>
          <p:nvPr/>
        </p:nvSpPr>
        <p:spPr>
          <a:xfrm>
            <a:off x="8028431" y="3621024"/>
            <a:ext cx="3520440" cy="457200"/>
          </a:xfrm>
          <a:prstGeom prst="rect">
            <a:avLst/>
          </a:prstGeom>
          <a:noFill/>
        </p:spPr>
        <p:txBody>
          <a:bodyPr wrap="square" lIns="0" rIns="0" tIns="0" bIns="0" anchor="t">
            <a:spAutoFit/>
          </a:bodyPr>
          <a:lstStyle/>
          <a:p>
            <a:pPr algn="l">
              <a:spcAft>
                <a:spcPts val="0"/>
              </a:spcAft>
            </a:pPr>
            <a:r>
              <a:rPr sz="1150" b="1" i="0">
                <a:solidFill>
                  <a:srgbClr val="14142B"/>
                </a:solidFill>
                <a:latin typeface="Calibri"/>
              </a:rPr>
              <a:t>“dropped it and screen cracked. also touch is slow af”</a:t>
            </a:r>
          </a:p>
          <a:p>
            <a:pPr algn="l">
              <a:spcAft>
                <a:spcPts val="0"/>
              </a:spcAft>
            </a:pPr>
            <a:r>
              <a:rPr sz="1050" b="0" i="0">
                <a:solidFill>
                  <a:srgbClr val="3F3F5A"/>
                </a:solidFill>
                <a:latin typeface="Calibri"/>
              </a:rPr>
              <a:t>two problems, two plans</a:t>
            </a:r>
          </a:p>
        </p:txBody>
      </p:sp>
      <p:sp>
        <p:nvSpPr>
          <p:cNvPr id="14" name="Oval 13"/>
          <p:cNvSpPr/>
          <p:nvPr/>
        </p:nvSpPr>
        <p:spPr>
          <a:xfrm>
            <a:off x="7589520" y="4123944"/>
            <a:ext cx="310896" cy="310896"/>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5</a:t>
            </a:r>
          </a:p>
        </p:txBody>
      </p:sp>
      <p:sp>
        <p:nvSpPr>
          <p:cNvPr id="15" name="TextBox 14"/>
          <p:cNvSpPr txBox="1"/>
          <p:nvPr/>
        </p:nvSpPr>
        <p:spPr>
          <a:xfrm>
            <a:off x="8028431" y="4096512"/>
            <a:ext cx="3520440" cy="457200"/>
          </a:xfrm>
          <a:prstGeom prst="rect">
            <a:avLst/>
          </a:prstGeom>
          <a:noFill/>
        </p:spPr>
        <p:txBody>
          <a:bodyPr wrap="square" lIns="0" rIns="0" tIns="0" bIns="0" anchor="t">
            <a:spAutoFit/>
          </a:bodyPr>
          <a:lstStyle/>
          <a:p>
            <a:pPr algn="l">
              <a:spcAft>
                <a:spcPts val="0"/>
              </a:spcAft>
            </a:pPr>
            <a:r>
              <a:rPr sz="1150" b="1" i="0">
                <a:solidFill>
                  <a:srgbClr val="14142B"/>
                </a:solidFill>
                <a:latin typeface="Calibri"/>
              </a:rPr>
              <a:t>“battery dies so fast lol” + battery article</a:t>
            </a:r>
          </a:p>
          <a:p>
            <a:pPr algn="l">
              <a:spcAft>
                <a:spcPts val="0"/>
              </a:spcAft>
            </a:pPr>
            <a:r>
              <a:rPr sz="1050" b="0" i="0">
                <a:solidFill>
                  <a:srgbClr val="3F3F5A"/>
                </a:solidFill>
                <a:latin typeface="Calibri"/>
              </a:rPr>
              <a:t>live plan from the local model</a:t>
            </a:r>
          </a:p>
        </p:txBody>
      </p:sp>
      <p:sp>
        <p:nvSpPr>
          <p:cNvPr id="16" name="Oval 15"/>
          <p:cNvSpPr/>
          <p:nvPr/>
        </p:nvSpPr>
        <p:spPr>
          <a:xfrm>
            <a:off x="7589520" y="4599432"/>
            <a:ext cx="310896" cy="310896"/>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6</a:t>
            </a:r>
          </a:p>
        </p:txBody>
      </p:sp>
      <p:sp>
        <p:nvSpPr>
          <p:cNvPr id="17" name="TextBox 16"/>
          <p:cNvSpPr txBox="1"/>
          <p:nvPr/>
        </p:nvSpPr>
        <p:spPr>
          <a:xfrm>
            <a:off x="8028431" y="4572000"/>
            <a:ext cx="3520440" cy="457200"/>
          </a:xfrm>
          <a:prstGeom prst="rect">
            <a:avLst/>
          </a:prstGeom>
          <a:noFill/>
        </p:spPr>
        <p:txBody>
          <a:bodyPr wrap="square" lIns="0" rIns="0" tIns="0" bIns="0" anchor="t">
            <a:spAutoFit/>
          </a:bodyPr>
          <a:lstStyle/>
          <a:p>
            <a:pPr algn="l">
              <a:spcAft>
                <a:spcPts val="0"/>
              </a:spcAft>
            </a:pPr>
            <a:r>
              <a:rPr sz="1150" b="1" i="0">
                <a:solidFill>
                  <a:srgbClr val="14142B"/>
                </a:solidFill>
                <a:latin typeface="Calibri"/>
              </a:rPr>
              <a:t>Same article again</a:t>
            </a:r>
          </a:p>
          <a:p>
            <a:pPr algn="l">
              <a:spcAft>
                <a:spcPts val="0"/>
              </a:spcAft>
            </a:pPr>
            <a:r>
              <a:rPr sz="1050" b="0" i="0">
                <a:solidFill>
                  <a:srgbClr val="3F3F5A"/>
                </a:solidFill>
                <a:latin typeface="Calibri"/>
              </a:rPr>
              <a:t>stored plan, instant</a:t>
            </a:r>
          </a:p>
        </p:txBody>
      </p:sp>
      <p:sp>
        <p:nvSpPr>
          <p:cNvPr id="18" name="Oval 17"/>
          <p:cNvSpPr/>
          <p:nvPr/>
        </p:nvSpPr>
        <p:spPr>
          <a:xfrm>
            <a:off x="7589520" y="5074920"/>
            <a:ext cx="310896" cy="310896"/>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7</a:t>
            </a:r>
          </a:p>
        </p:txBody>
      </p:sp>
      <p:sp>
        <p:nvSpPr>
          <p:cNvPr id="19" name="TextBox 18"/>
          <p:cNvSpPr txBox="1"/>
          <p:nvPr/>
        </p:nvSpPr>
        <p:spPr>
          <a:xfrm>
            <a:off x="8028431" y="5047488"/>
            <a:ext cx="3520440" cy="457200"/>
          </a:xfrm>
          <a:prstGeom prst="rect">
            <a:avLst/>
          </a:prstGeom>
          <a:noFill/>
        </p:spPr>
        <p:txBody>
          <a:bodyPr wrap="square" lIns="0" rIns="0" tIns="0" bIns="0" anchor="t">
            <a:spAutoFit/>
          </a:bodyPr>
          <a:lstStyle/>
          <a:p>
            <a:pPr algn="l">
              <a:spcAft>
                <a:spcPts val="0"/>
              </a:spcAft>
            </a:pPr>
            <a:r>
              <a:rPr sz="1150" b="1" i="0">
                <a:solidFill>
                  <a:srgbClr val="14142B"/>
                </a:solidFill>
                <a:latin typeface="Calibri"/>
              </a:rPr>
              <a:t>“earbuds wont connect”</a:t>
            </a:r>
          </a:p>
          <a:p>
            <a:pPr algn="l">
              <a:spcAft>
                <a:spcPts val="0"/>
              </a:spcAft>
            </a:pPr>
            <a:r>
              <a:rPr sz="1050" b="0" i="0">
                <a:solidFill>
                  <a:srgbClr val="3F3F5A"/>
                </a:solidFill>
                <a:latin typeface="Calibri"/>
              </a:rPr>
              <a:t>out of scope: honest fallback</a:t>
            </a:r>
          </a:p>
        </p:txBody>
      </p:sp>
      <p:sp>
        <p:nvSpPr>
          <p:cNvPr id="20" name="Oval 19"/>
          <p:cNvSpPr/>
          <p:nvPr/>
        </p:nvSpPr>
        <p:spPr>
          <a:xfrm>
            <a:off x="7589520" y="5550408"/>
            <a:ext cx="310896" cy="310896"/>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Arial"/>
              </a:rPr>
              <a:t>8</a:t>
            </a:r>
          </a:p>
        </p:txBody>
      </p:sp>
      <p:sp>
        <p:nvSpPr>
          <p:cNvPr id="21" name="TextBox 20"/>
          <p:cNvSpPr txBox="1"/>
          <p:nvPr/>
        </p:nvSpPr>
        <p:spPr>
          <a:xfrm>
            <a:off x="8028431" y="5522976"/>
            <a:ext cx="3520440" cy="457200"/>
          </a:xfrm>
          <a:prstGeom prst="rect">
            <a:avLst/>
          </a:prstGeom>
          <a:noFill/>
        </p:spPr>
        <p:txBody>
          <a:bodyPr wrap="square" lIns="0" rIns="0" tIns="0" bIns="0" anchor="t">
            <a:spAutoFit/>
          </a:bodyPr>
          <a:lstStyle/>
          <a:p>
            <a:pPr algn="l">
              <a:spcAft>
                <a:spcPts val="0"/>
              </a:spcAft>
            </a:pPr>
            <a:r>
              <a:rPr sz="1150" b="1" i="0">
                <a:solidFill>
                  <a:srgbClr val="14142B"/>
                </a:solidFill>
                <a:latin typeface="Calibri"/>
              </a:rPr>
              <a:t>URL planted in the article</a:t>
            </a:r>
          </a:p>
          <a:p>
            <a:pPr algn="l">
              <a:spcAft>
                <a:spcPts val="0"/>
              </a:spcAft>
            </a:pPr>
            <a:r>
              <a:rPr sz="1050" b="0" i="0">
                <a:solidFill>
                  <a:srgbClr val="3F3F5A"/>
                </a:solidFill>
                <a:latin typeface="Calibri"/>
              </a:rPr>
              <a:t>1 URL in → 0 in the response</a:t>
            </a:r>
          </a:p>
        </p:txBody>
      </p:sp>
      <p:sp>
        <p:nvSpPr>
          <p:cNvPr id="22" name="TextBox 21"/>
          <p:cNvSpPr txBox="1"/>
          <p:nvPr/>
        </p:nvSpPr>
        <p:spPr>
          <a:xfrm>
            <a:off x="685800" y="6053328"/>
            <a:ext cx="10789920" cy="320040"/>
          </a:xfrm>
          <a:prstGeom prst="rect">
            <a:avLst/>
          </a:prstGeom>
          <a:noFill/>
        </p:spPr>
        <p:txBody>
          <a:bodyPr wrap="square" lIns="0" rIns="0" tIns="0" bIns="0" anchor="t">
            <a:spAutoFit/>
          </a:bodyPr>
          <a:lstStyle/>
          <a:p>
            <a:pPr algn="l">
              <a:spcAft>
                <a:spcPts val="400"/>
              </a:spcAft>
            </a:pPr>
            <a:r>
              <a:rPr sz="1250" b="1" i="0">
                <a:solidFill>
                  <a:srgbClr val="6D28D9"/>
                </a:solidFill>
                <a:latin typeface="Calibri"/>
              </a:rPr>
              <a:t>Demo video: </a:t>
            </a:r>
            <a:r>
              <a:rPr sz="1250" b="0" i="0">
                <a:solidFill>
                  <a:srgbClr val="3F3F5A"/>
                </a:solidFill>
                <a:latin typeface="Calibri"/>
              </a:rPr>
              <a:t>Thapar_DeadlockDodgers_Demo.mp4 (repo root)</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TextBox 2"/>
          <p:cNvSpPr txBox="1"/>
          <p:nvPr/>
        </p:nvSpPr>
        <p:spPr>
          <a:xfrm>
            <a:off x="685800" y="1371600"/>
            <a:ext cx="10789920" cy="365760"/>
          </a:xfrm>
          <a:prstGeom prst="rect">
            <a:avLst/>
          </a:prstGeom>
          <a:noFill/>
        </p:spPr>
        <p:txBody>
          <a:bodyPr wrap="square" lIns="0" rIns="0" tIns="0" bIns="0" anchor="t">
            <a:spAutoFit/>
          </a:bodyPr>
          <a:lstStyle/>
          <a:p>
            <a:pPr algn="l">
              <a:spcAft>
                <a:spcPts val="400"/>
              </a:spcAft>
            </a:pPr>
            <a:r>
              <a:rPr sz="1500" b="0" i="0">
                <a:solidFill>
                  <a:srgbClr val="63637E"/>
                </a:solidFill>
                <a:latin typeface="Calibri"/>
              </a:rPr>
              <a:t>Small, local and open: everything runs on one laptop (i5-13420H, RTX 4050 6 GB)</a:t>
            </a:r>
          </a:p>
        </p:txBody>
      </p:sp>
      <p:sp>
        <p:nvSpPr>
          <p:cNvPr id="4" name="Rounded Rectangle 3"/>
          <p:cNvSpPr/>
          <p:nvPr/>
        </p:nvSpPr>
        <p:spPr>
          <a:xfrm>
            <a:off x="685800" y="1828800"/>
            <a:ext cx="3474720" cy="2103120"/>
          </a:xfrm>
          <a:prstGeom prst="roundRect">
            <a:avLst>
              <a:gd name="adj" fmla="val 2608"/>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993392"/>
            <a:ext cx="3017520" cy="320040"/>
          </a:xfrm>
          <a:prstGeom prst="rect">
            <a:avLst/>
          </a:prstGeom>
          <a:noFill/>
        </p:spPr>
        <p:txBody>
          <a:bodyPr wrap="square" lIns="0" rIns="0" tIns="0" bIns="0" anchor="t">
            <a:spAutoFit/>
          </a:bodyPr>
          <a:lstStyle/>
          <a:p>
            <a:pPr algn="l">
              <a:spcAft>
                <a:spcPts val="400"/>
              </a:spcAft>
            </a:pPr>
            <a:r>
              <a:rPr sz="1600" b="1" i="0">
                <a:solidFill>
                  <a:srgbClr val="6D28D9"/>
                </a:solidFill>
                <a:latin typeface="Arial"/>
              </a:rPr>
              <a:t>Models</a:t>
            </a:r>
          </a:p>
        </p:txBody>
      </p:sp>
      <p:sp>
        <p:nvSpPr>
          <p:cNvPr id="6" name="TextBox 5"/>
          <p:cNvSpPr txBox="1"/>
          <p:nvPr/>
        </p:nvSpPr>
        <p:spPr>
          <a:xfrm>
            <a:off x="914400" y="2395728"/>
            <a:ext cx="3063240" cy="1463040"/>
          </a:xfrm>
          <a:prstGeom prst="rect">
            <a:avLst/>
          </a:prstGeom>
          <a:noFill/>
        </p:spPr>
        <p:txBody>
          <a:bodyPr wrap="square" lIns="0" rIns="0" tIns="0" bIns="0" anchor="t">
            <a:spAutoFit/>
          </a:bodyPr>
          <a:lstStyle/>
          <a:p>
            <a:pPr algn="l" marL="182880" indent="-182880">
              <a:spcAft>
                <a:spcPts val="500"/>
              </a:spcAft>
              <a:buChar char="•"/>
            </a:pPr>
            <a:r>
              <a:rPr sz="1250" b="0" i="0">
                <a:solidFill>
                  <a:srgbClr val="14142B"/>
                </a:solidFill>
                <a:latin typeface="Calibri"/>
              </a:rPr>
              <a:t>qwen2.5:1.5b (4-bit) via Ollama on the GPU: picks steps for new articles</a:t>
            </a:r>
          </a:p>
          <a:p>
            <a:pPr algn="l" marL="182880" indent="-182880">
              <a:spcAft>
                <a:spcPts val="500"/>
              </a:spcAft>
              <a:buChar char="•"/>
            </a:pPr>
            <a:r>
              <a:rPr sz="1250" b="0" i="0">
                <a:solidFill>
                  <a:srgbClr val="14142B"/>
                </a:solidFill>
                <a:latin typeface="Calibri"/>
              </a:rPr>
              <a:t>BAAI/bge-small-en-v1.5 on the CPU: embeddings for the cache and retriever</a:t>
            </a:r>
          </a:p>
          <a:p>
            <a:pPr algn="l" marL="182880" indent="-182880">
              <a:spcAft>
                <a:spcPts val="500"/>
              </a:spcAft>
              <a:buChar char="•"/>
            </a:pPr>
            <a:r>
              <a:rPr sz="1250" b="0" i="0">
                <a:solidFill>
                  <a:srgbClr val="14142B"/>
                </a:solidFill>
                <a:latin typeface="Calibri"/>
              </a:rPr>
              <a:t>Claude Opus 5: offline build tier only, never at runtime</a:t>
            </a:r>
          </a:p>
        </p:txBody>
      </p:sp>
      <p:sp>
        <p:nvSpPr>
          <p:cNvPr id="7" name="Rounded Rectangle 6"/>
          <p:cNvSpPr/>
          <p:nvPr/>
        </p:nvSpPr>
        <p:spPr>
          <a:xfrm>
            <a:off x="4370832" y="1828800"/>
            <a:ext cx="3474720" cy="2103120"/>
          </a:xfrm>
          <a:prstGeom prst="roundRect">
            <a:avLst>
              <a:gd name="adj" fmla="val 2608"/>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599432" y="1993392"/>
            <a:ext cx="3017520" cy="320040"/>
          </a:xfrm>
          <a:prstGeom prst="rect">
            <a:avLst/>
          </a:prstGeom>
          <a:noFill/>
        </p:spPr>
        <p:txBody>
          <a:bodyPr wrap="square" lIns="0" rIns="0" tIns="0" bIns="0" anchor="t">
            <a:spAutoFit/>
          </a:bodyPr>
          <a:lstStyle/>
          <a:p>
            <a:pPr algn="l">
              <a:spcAft>
                <a:spcPts val="400"/>
              </a:spcAft>
            </a:pPr>
            <a:r>
              <a:rPr sz="1600" b="1" i="0">
                <a:solidFill>
                  <a:srgbClr val="1D4ED8"/>
                </a:solidFill>
                <a:latin typeface="Arial"/>
              </a:rPr>
              <a:t>API &amp; runtime</a:t>
            </a:r>
          </a:p>
        </p:txBody>
      </p:sp>
      <p:sp>
        <p:nvSpPr>
          <p:cNvPr id="9" name="TextBox 8"/>
          <p:cNvSpPr txBox="1"/>
          <p:nvPr/>
        </p:nvSpPr>
        <p:spPr>
          <a:xfrm>
            <a:off x="4599432" y="2395728"/>
            <a:ext cx="3063240" cy="1463040"/>
          </a:xfrm>
          <a:prstGeom prst="rect">
            <a:avLst/>
          </a:prstGeom>
          <a:noFill/>
        </p:spPr>
        <p:txBody>
          <a:bodyPr wrap="square" lIns="0" rIns="0" tIns="0" bIns="0" anchor="t">
            <a:spAutoFit/>
          </a:bodyPr>
          <a:lstStyle/>
          <a:p>
            <a:pPr algn="l" marL="182880" indent="-182880">
              <a:spcAft>
                <a:spcPts val="500"/>
              </a:spcAft>
              <a:buChar char="•"/>
            </a:pPr>
            <a:r>
              <a:rPr sz="1250" b="0" i="0">
                <a:solidFill>
                  <a:srgbClr val="14142B"/>
                </a:solidFill>
                <a:latin typeface="Calibri"/>
              </a:rPr>
              <a:t>Python 3.12 · FastAPI · Uvicorn</a:t>
            </a:r>
          </a:p>
          <a:p>
            <a:pPr algn="l" marL="182880" indent="-182880">
              <a:spcAft>
                <a:spcPts val="500"/>
              </a:spcAft>
              <a:buChar char="•"/>
            </a:pPr>
            <a:r>
              <a:rPr sz="1250" b="0" i="0">
                <a:solidFill>
                  <a:srgbClr val="14142B"/>
                </a:solidFill>
                <a:latin typeface="Calibri"/>
              </a:rPr>
              <a:t>Pydantic v2 with the supplied schema.py, unmodified</a:t>
            </a:r>
          </a:p>
          <a:p>
            <a:pPr algn="l" marL="182880" indent="-182880">
              <a:spcAft>
                <a:spcPts val="500"/>
              </a:spcAft>
              <a:buChar char="•"/>
            </a:pPr>
            <a:r>
              <a:rPr sz="1250" b="0" i="0">
                <a:solidFill>
                  <a:srgbClr val="14142B"/>
                </a:solidFill>
                <a:latin typeface="Calibri"/>
              </a:rPr>
              <a:t>httpx client for the local Ollama server</a:t>
            </a:r>
          </a:p>
        </p:txBody>
      </p:sp>
      <p:sp>
        <p:nvSpPr>
          <p:cNvPr id="10" name="Rounded Rectangle 9"/>
          <p:cNvSpPr/>
          <p:nvPr/>
        </p:nvSpPr>
        <p:spPr>
          <a:xfrm>
            <a:off x="8055864" y="1828800"/>
            <a:ext cx="3474720" cy="2103120"/>
          </a:xfrm>
          <a:prstGeom prst="roundRect">
            <a:avLst>
              <a:gd name="adj" fmla="val 2608"/>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84464" y="1993392"/>
            <a:ext cx="3017520" cy="320040"/>
          </a:xfrm>
          <a:prstGeom prst="rect">
            <a:avLst/>
          </a:prstGeom>
          <a:noFill/>
        </p:spPr>
        <p:txBody>
          <a:bodyPr wrap="square" lIns="0" rIns="0" tIns="0" bIns="0" anchor="t">
            <a:spAutoFit/>
          </a:bodyPr>
          <a:lstStyle/>
          <a:p>
            <a:pPr algn="l">
              <a:spcAft>
                <a:spcPts val="400"/>
              </a:spcAft>
            </a:pPr>
            <a:r>
              <a:rPr sz="1600" b="1" i="0">
                <a:solidFill>
                  <a:srgbClr val="0F766E"/>
                </a:solidFill>
                <a:latin typeface="Arial"/>
              </a:rPr>
              <a:t>Retrieval &amp; cache</a:t>
            </a:r>
          </a:p>
        </p:txBody>
      </p:sp>
      <p:sp>
        <p:nvSpPr>
          <p:cNvPr id="12" name="TextBox 11"/>
          <p:cNvSpPr txBox="1"/>
          <p:nvPr/>
        </p:nvSpPr>
        <p:spPr>
          <a:xfrm>
            <a:off x="8284464" y="2395728"/>
            <a:ext cx="3063240" cy="1463040"/>
          </a:xfrm>
          <a:prstGeom prst="rect">
            <a:avLst/>
          </a:prstGeom>
          <a:noFill/>
        </p:spPr>
        <p:txBody>
          <a:bodyPr wrap="square" lIns="0" rIns="0" tIns="0" bIns="0" anchor="t">
            <a:spAutoFit/>
          </a:bodyPr>
          <a:lstStyle/>
          <a:p>
            <a:pPr algn="l" marL="182880" indent="-182880">
              <a:spcAft>
                <a:spcPts val="500"/>
              </a:spcAft>
              <a:buChar char="•"/>
            </a:pPr>
            <a:r>
              <a:rPr sz="1250" b="0" i="0">
                <a:solidFill>
                  <a:srgbClr val="14142B"/>
                </a:solidFill>
                <a:latin typeface="Calibri"/>
              </a:rPr>
              <a:t>Hybrid rank-bm25 + dense cosine over 578 deeplinks</a:t>
            </a:r>
          </a:p>
          <a:p>
            <a:pPr algn="l" marL="182880" indent="-182880">
              <a:spcAft>
                <a:spcPts val="500"/>
              </a:spcAft>
              <a:buChar char="•"/>
            </a:pPr>
            <a:r>
              <a:rPr sz="1250" b="0" i="0">
                <a:solidFill>
                  <a:srgbClr val="14142B"/>
                </a:solidFill>
                <a:latin typeface="Calibri"/>
              </a:rPr>
              <a:t>Semantic cache over 130 phrasings (NumPy)</a:t>
            </a:r>
          </a:p>
          <a:p>
            <a:pPr algn="l" marL="182880" indent="-182880">
              <a:spcAft>
                <a:spcPts val="500"/>
              </a:spcAft>
              <a:buChar char="•"/>
            </a:pPr>
            <a:r>
              <a:rPr sz="1250" b="0" i="0">
                <a:solidFill>
                  <a:srgbClr val="14142B"/>
                </a:solidFill>
                <a:latin typeface="Calibri"/>
              </a:rPr>
              <a:t>Out-of-scope anchors and multi-intent splitting</a:t>
            </a:r>
          </a:p>
        </p:txBody>
      </p:sp>
      <p:sp>
        <p:nvSpPr>
          <p:cNvPr id="13" name="Rounded Rectangle 12"/>
          <p:cNvSpPr/>
          <p:nvPr/>
        </p:nvSpPr>
        <p:spPr>
          <a:xfrm>
            <a:off x="685800" y="4114800"/>
            <a:ext cx="3474720" cy="2103120"/>
          </a:xfrm>
          <a:prstGeom prst="roundRect">
            <a:avLst>
              <a:gd name="adj" fmla="val 2608"/>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4279392"/>
            <a:ext cx="3017520" cy="320040"/>
          </a:xfrm>
          <a:prstGeom prst="rect">
            <a:avLst/>
          </a:prstGeom>
          <a:noFill/>
        </p:spPr>
        <p:txBody>
          <a:bodyPr wrap="square" lIns="0" rIns="0" tIns="0" bIns="0" anchor="t">
            <a:spAutoFit/>
          </a:bodyPr>
          <a:lstStyle/>
          <a:p>
            <a:pPr algn="l">
              <a:spcAft>
                <a:spcPts val="400"/>
              </a:spcAft>
            </a:pPr>
            <a:r>
              <a:rPr sz="1600" b="1" i="0">
                <a:solidFill>
                  <a:srgbClr val="B45309"/>
                </a:solidFill>
                <a:latin typeface="Arial"/>
              </a:rPr>
              <a:t>Guardrails</a:t>
            </a:r>
          </a:p>
        </p:txBody>
      </p:sp>
      <p:sp>
        <p:nvSpPr>
          <p:cNvPr id="15" name="TextBox 14"/>
          <p:cNvSpPr txBox="1"/>
          <p:nvPr/>
        </p:nvSpPr>
        <p:spPr>
          <a:xfrm>
            <a:off x="914400" y="4681728"/>
            <a:ext cx="3063240" cy="1463040"/>
          </a:xfrm>
          <a:prstGeom prst="rect">
            <a:avLst/>
          </a:prstGeom>
          <a:noFill/>
        </p:spPr>
        <p:txBody>
          <a:bodyPr wrap="square" lIns="0" rIns="0" tIns="0" bIns="0" anchor="t">
            <a:spAutoFit/>
          </a:bodyPr>
          <a:lstStyle/>
          <a:p>
            <a:pPr algn="l" marL="182880" indent="-182880">
              <a:spcAft>
                <a:spcPts val="500"/>
              </a:spcAft>
              <a:buChar char="•"/>
            </a:pPr>
            <a:r>
              <a:rPr sz="1250" b="0" i="0">
                <a:solidFill>
                  <a:srgbClr val="14142B"/>
                </a:solidFill>
                <a:latin typeface="Calibri"/>
              </a:rPr>
              <a:t>JSON-schema-constrained decoding (Ollama format)</a:t>
            </a:r>
          </a:p>
          <a:p>
            <a:pPr algn="l" marL="182880" indent="-182880">
              <a:spcAft>
                <a:spcPts val="500"/>
              </a:spcAft>
              <a:buChar char="•"/>
            </a:pPr>
            <a:r>
              <a:rPr sz="1250" b="0" i="0">
                <a:solidFill>
                  <a:srgbClr val="14142B"/>
                </a:solidFill>
                <a:latin typeface="Calibri"/>
              </a:rPr>
              <a:t>17 gates G0–G16 and a URL scrubber on every plan</a:t>
            </a:r>
          </a:p>
          <a:p>
            <a:pPr algn="l" marL="182880" indent="-182880">
              <a:spcAft>
                <a:spcPts val="500"/>
              </a:spcAft>
              <a:buChar char="•"/>
            </a:pPr>
            <a:r>
              <a:rPr sz="1250" b="0" i="0">
                <a:solidFill>
                  <a:srgbClr val="14142B"/>
                </a:solidFill>
                <a:latin typeface="Calibri"/>
              </a:rPr>
              <a:t>Deterministic decoding: temperature 0, fixed seed</a:t>
            </a:r>
          </a:p>
        </p:txBody>
      </p:sp>
      <p:sp>
        <p:nvSpPr>
          <p:cNvPr id="16" name="Rounded Rectangle 15"/>
          <p:cNvSpPr/>
          <p:nvPr/>
        </p:nvSpPr>
        <p:spPr>
          <a:xfrm>
            <a:off x="4370832" y="4114800"/>
            <a:ext cx="3474720" cy="2103120"/>
          </a:xfrm>
          <a:prstGeom prst="roundRect">
            <a:avLst>
              <a:gd name="adj" fmla="val 2608"/>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599432" y="4279392"/>
            <a:ext cx="3017520" cy="320040"/>
          </a:xfrm>
          <a:prstGeom prst="rect">
            <a:avLst/>
          </a:prstGeom>
          <a:noFill/>
        </p:spPr>
        <p:txBody>
          <a:bodyPr wrap="square" lIns="0" rIns="0" tIns="0" bIns="0" anchor="t">
            <a:spAutoFit/>
          </a:bodyPr>
          <a:lstStyle/>
          <a:p>
            <a:pPr algn="l">
              <a:spcAft>
                <a:spcPts val="400"/>
              </a:spcAft>
            </a:pPr>
            <a:r>
              <a:rPr sz="1600" b="1" i="0">
                <a:solidFill>
                  <a:srgbClr val="6D28D9"/>
                </a:solidFill>
                <a:latin typeface="Arial"/>
              </a:rPr>
              <a:t>Testing &amp; measurement</a:t>
            </a:r>
          </a:p>
        </p:txBody>
      </p:sp>
      <p:sp>
        <p:nvSpPr>
          <p:cNvPr id="18" name="TextBox 17"/>
          <p:cNvSpPr txBox="1"/>
          <p:nvPr/>
        </p:nvSpPr>
        <p:spPr>
          <a:xfrm>
            <a:off x="4599432" y="4681728"/>
            <a:ext cx="3063240" cy="1463040"/>
          </a:xfrm>
          <a:prstGeom prst="rect">
            <a:avLst/>
          </a:prstGeom>
          <a:noFill/>
        </p:spPr>
        <p:txBody>
          <a:bodyPr wrap="square" lIns="0" rIns="0" tIns="0" bIns="0" anchor="t">
            <a:spAutoFit/>
          </a:bodyPr>
          <a:lstStyle/>
          <a:p>
            <a:pPr algn="l" marL="182880" indent="-182880">
              <a:spcAft>
                <a:spcPts val="500"/>
              </a:spcAft>
              <a:buChar char="•"/>
            </a:pPr>
            <a:r>
              <a:rPr sz="1250" b="0" i="0">
                <a:solidFill>
                  <a:srgbClr val="14142B"/>
                </a:solidFill>
                <a:latin typeface="Calibri"/>
              </a:rPr>
              <a:t>pytest: 81 regression tests</a:t>
            </a:r>
          </a:p>
          <a:p>
            <a:pPr algn="l" marL="182880" indent="-182880">
              <a:spcAft>
                <a:spcPts val="500"/>
              </a:spcAft>
              <a:buChar char="•"/>
            </a:pPr>
            <a:r>
              <a:rPr sz="1250" b="0" i="0">
                <a:solidFill>
                  <a:srgbClr val="14142B"/>
                </a:solidFill>
                <a:latin typeface="Calibri"/>
              </a:rPr>
              <a:t>Scripts for accuracy, latency, ablations and HTTP stress</a:t>
            </a:r>
          </a:p>
          <a:p>
            <a:pPr algn="l" marL="182880" indent="-182880">
              <a:spcAft>
                <a:spcPts val="500"/>
              </a:spcAft>
              <a:buChar char="•"/>
            </a:pPr>
            <a:r>
              <a:rPr sz="1250" b="0" i="0">
                <a:solidFill>
                  <a:srgbClr val="14142B"/>
                </a:solidFill>
                <a:latin typeface="Calibri"/>
              </a:rPr>
              <a:t>python scripts/run_reports.py regenerates every number</a:t>
            </a:r>
          </a:p>
        </p:txBody>
      </p:sp>
      <p:sp>
        <p:nvSpPr>
          <p:cNvPr id="19" name="Rounded Rectangle 18"/>
          <p:cNvSpPr/>
          <p:nvPr/>
        </p:nvSpPr>
        <p:spPr>
          <a:xfrm>
            <a:off x="8055864" y="4114800"/>
            <a:ext cx="3474720" cy="2103120"/>
          </a:xfrm>
          <a:prstGeom prst="roundRect">
            <a:avLst>
              <a:gd name="adj" fmla="val 2608"/>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84464" y="4279392"/>
            <a:ext cx="3017520" cy="320040"/>
          </a:xfrm>
          <a:prstGeom prst="rect">
            <a:avLst/>
          </a:prstGeom>
          <a:noFill/>
        </p:spPr>
        <p:txBody>
          <a:bodyPr wrap="square" lIns="0" rIns="0" tIns="0" bIns="0" anchor="t">
            <a:spAutoFit/>
          </a:bodyPr>
          <a:lstStyle/>
          <a:p>
            <a:pPr algn="l">
              <a:spcAft>
                <a:spcPts val="400"/>
              </a:spcAft>
            </a:pPr>
            <a:r>
              <a:rPr sz="1600" b="1" i="0">
                <a:solidFill>
                  <a:srgbClr val="1D4ED8"/>
                </a:solidFill>
                <a:latin typeface="Arial"/>
              </a:rPr>
              <a:t>Packaging &amp; demo</a:t>
            </a:r>
          </a:p>
        </p:txBody>
      </p:sp>
      <p:sp>
        <p:nvSpPr>
          <p:cNvPr id="21" name="TextBox 20"/>
          <p:cNvSpPr txBox="1"/>
          <p:nvPr/>
        </p:nvSpPr>
        <p:spPr>
          <a:xfrm>
            <a:off x="8284464" y="4681728"/>
            <a:ext cx="3063240" cy="1463040"/>
          </a:xfrm>
          <a:prstGeom prst="rect">
            <a:avLst/>
          </a:prstGeom>
          <a:noFill/>
        </p:spPr>
        <p:txBody>
          <a:bodyPr wrap="square" lIns="0" rIns="0" tIns="0" bIns="0" anchor="t">
            <a:spAutoFit/>
          </a:bodyPr>
          <a:lstStyle/>
          <a:p>
            <a:pPr algn="l" marL="182880" indent="-182880">
              <a:spcAft>
                <a:spcPts val="500"/>
              </a:spcAft>
              <a:buChar char="•"/>
            </a:pPr>
            <a:r>
              <a:rPr sz="1250" b="0" i="0">
                <a:solidFill>
                  <a:srgbClr val="14142B"/>
                </a:solidFill>
                <a:latin typeface="Calibri"/>
              </a:rPr>
              <a:t>Dockerfile + docker-compose (API + Ollama)</a:t>
            </a:r>
          </a:p>
          <a:p>
            <a:pPr algn="l" marL="182880" indent="-182880">
              <a:spcAft>
                <a:spcPts val="500"/>
              </a:spcAft>
              <a:buChar char="•"/>
            </a:pPr>
            <a:r>
              <a:rPr sz="1250" b="0" i="0">
                <a:solidFill>
                  <a:srgbClr val="14142B"/>
                </a:solidFill>
                <a:latin typeface="Calibri"/>
              </a:rPr>
              <a:t>Offline image: encoder weights baked in</a:t>
            </a:r>
          </a:p>
          <a:p>
            <a:pPr algn="l" marL="182880" indent="-182880">
              <a:spcAft>
                <a:spcPts val="500"/>
              </a:spcAft>
              <a:buChar char="•"/>
            </a:pPr>
            <a:r>
              <a:rPr sz="1250" b="0" i="0">
                <a:solidFill>
                  <a:srgbClr val="14142B"/>
                </a:solidFill>
                <a:latin typeface="Calibri"/>
              </a:rPr>
              <a:t>Demo page (HTML/JS); video recorded with Playwright</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TextBox 2"/>
          <p:cNvSpPr txBox="1"/>
          <p:nvPr/>
        </p:nvSpPr>
        <p:spPr>
          <a:xfrm>
            <a:off x="685800" y="1371600"/>
            <a:ext cx="10789920" cy="365760"/>
          </a:xfrm>
          <a:prstGeom prst="rect">
            <a:avLst/>
          </a:prstGeom>
          <a:noFill/>
        </p:spPr>
        <p:txBody>
          <a:bodyPr wrap="square" lIns="0" rIns="0" tIns="0" bIns="0" anchor="t">
            <a:spAutoFit/>
          </a:bodyPr>
          <a:lstStyle/>
          <a:p>
            <a:pPr algn="l">
              <a:spcAft>
                <a:spcPts val="400"/>
              </a:spcAft>
            </a:pPr>
            <a:r>
              <a:rPr sz="1500" b="0" i="0">
                <a:solidFill>
                  <a:srgbClr val="63637E"/>
                </a:solidFill>
                <a:latin typeface="Calibri"/>
              </a:rPr>
              <a:t>Who uses it, and what changes for them</a:t>
            </a:r>
          </a:p>
        </p:txBody>
      </p:sp>
      <p:sp>
        <p:nvSpPr>
          <p:cNvPr id="4" name="Rounded Rectangle 3"/>
          <p:cNvSpPr/>
          <p:nvPr/>
        </p:nvSpPr>
        <p:spPr>
          <a:xfrm>
            <a:off x="685800" y="1828800"/>
            <a:ext cx="6309360" cy="1298448"/>
          </a:xfrm>
          <a:prstGeom prst="roundRect">
            <a:avLst>
              <a:gd name="adj" fmla="val 4225"/>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14400" y="202996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6" name="TextBox 5"/>
          <p:cNvSpPr txBox="1"/>
          <p:nvPr/>
        </p:nvSpPr>
        <p:spPr>
          <a:xfrm>
            <a:off x="1463040" y="1984248"/>
            <a:ext cx="534924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Contact-centre agent assist</a:t>
            </a:r>
          </a:p>
        </p:txBody>
      </p:sp>
      <p:sp>
        <p:nvSpPr>
          <p:cNvPr id="7" name="TextBox 6"/>
          <p:cNvSpPr txBox="1"/>
          <p:nvPr/>
        </p:nvSpPr>
        <p:spPr>
          <a:xfrm>
            <a:off x="1463040" y="2331720"/>
            <a:ext cx="5349240" cy="777240"/>
          </a:xfrm>
          <a:prstGeom prst="rect">
            <a:avLst/>
          </a:prstGeom>
          <a:noFill/>
        </p:spPr>
        <p:txBody>
          <a:bodyPr wrap="square" lIns="0" rIns="0" tIns="0" bIns="0" anchor="t">
            <a:spAutoFit/>
          </a:bodyPr>
          <a:lstStyle/>
          <a:p>
            <a:pPr algn="l">
              <a:spcAft>
                <a:spcPts val="400"/>
              </a:spcAft>
            </a:pPr>
            <a:r>
              <a:rPr sz="1250" b="0" i="0">
                <a:solidFill>
                  <a:srgbClr val="3F3F5A"/>
                </a:solidFill>
                <a:latin typeface="Calibri"/>
              </a:rPr>
              <a:t>The agent pastes the customer's words and gets an ordered, checked plan in milliseconds, instead of writing one by hand (about 15 minutes per scenario today).</a:t>
            </a:r>
          </a:p>
        </p:txBody>
      </p:sp>
      <p:sp>
        <p:nvSpPr>
          <p:cNvPr id="8" name="Rounded Rectangle 7"/>
          <p:cNvSpPr/>
          <p:nvPr/>
        </p:nvSpPr>
        <p:spPr>
          <a:xfrm>
            <a:off x="685800" y="3291840"/>
            <a:ext cx="6309360" cy="1298448"/>
          </a:xfrm>
          <a:prstGeom prst="roundRect">
            <a:avLst>
              <a:gd name="adj" fmla="val 4225"/>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14400" y="349300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0" name="TextBox 9"/>
          <p:cNvSpPr txBox="1"/>
          <p:nvPr/>
        </p:nvSpPr>
        <p:spPr>
          <a:xfrm>
            <a:off x="1463040" y="3447288"/>
            <a:ext cx="534924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Self-service in the phone</a:t>
            </a:r>
          </a:p>
        </p:txBody>
      </p:sp>
      <p:sp>
        <p:nvSpPr>
          <p:cNvPr id="11" name="TextBox 10"/>
          <p:cNvSpPr txBox="1"/>
          <p:nvPr/>
        </p:nvSpPr>
        <p:spPr>
          <a:xfrm>
            <a:off x="1463040" y="3794760"/>
            <a:ext cx="5349240" cy="777240"/>
          </a:xfrm>
          <a:prstGeom prst="rect">
            <a:avLst/>
          </a:prstGeom>
          <a:noFill/>
        </p:spPr>
        <p:txBody>
          <a:bodyPr wrap="square" lIns="0" rIns="0" tIns="0" bIns="0" anchor="t">
            <a:spAutoFit/>
          </a:bodyPr>
          <a:lstStyle/>
          <a:p>
            <a:pPr algn="l">
              <a:spcAft>
                <a:spcPts val="400"/>
              </a:spcAft>
            </a:pPr>
            <a:r>
              <a:rPr sz="1250" b="0" i="0">
                <a:solidFill>
                  <a:srgbClr val="3F3F5A"/>
                </a:solidFill>
                <a:latin typeface="Calibri"/>
              </a:rPr>
              <a:t>In a support app or the voice assistant, the user taps a step and the exact Settings screen opens. Each step's validationDeeplink lets the app check the setting's current value.</a:t>
            </a:r>
          </a:p>
        </p:txBody>
      </p:sp>
      <p:sp>
        <p:nvSpPr>
          <p:cNvPr id="12" name="Rounded Rectangle 11"/>
          <p:cNvSpPr/>
          <p:nvPr/>
        </p:nvSpPr>
        <p:spPr>
          <a:xfrm>
            <a:off x="685800" y="4754880"/>
            <a:ext cx="6309360" cy="1298448"/>
          </a:xfrm>
          <a:prstGeom prst="roundRect">
            <a:avLst>
              <a:gd name="adj" fmla="val 4225"/>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14400" y="495604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4" name="TextBox 13"/>
          <p:cNvSpPr txBox="1"/>
          <p:nvPr/>
        </p:nvSpPr>
        <p:spPr>
          <a:xfrm>
            <a:off x="1463040" y="4910328"/>
            <a:ext cx="534924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Support-content onboarding</a:t>
            </a:r>
          </a:p>
        </p:txBody>
      </p:sp>
      <p:sp>
        <p:nvSpPr>
          <p:cNvPr id="15" name="TextBox 14"/>
          <p:cNvSpPr txBox="1"/>
          <p:nvPr/>
        </p:nvSpPr>
        <p:spPr>
          <a:xfrm>
            <a:off x="1463040" y="5257800"/>
            <a:ext cx="5349240" cy="777240"/>
          </a:xfrm>
          <a:prstGeom prst="rect">
            <a:avLst/>
          </a:prstGeom>
          <a:noFill/>
        </p:spPr>
        <p:txBody>
          <a:bodyPr wrap="square" lIns="0" rIns="0" tIns="0" bIns="0" anchor="t">
            <a:spAutoFit/>
          </a:bodyPr>
          <a:lstStyle/>
          <a:p>
            <a:pPr algn="l">
              <a:spcAft>
                <a:spcPts val="400"/>
              </a:spcAft>
            </a:pPr>
            <a:r>
              <a:rPr sz="1250" b="0" i="0">
                <a:solidFill>
                  <a:srgbClr val="3F3F5A"/>
                </a:solidFill>
                <a:latin typeface="Calibri"/>
              </a:rPr>
              <a:t>A new support article becomes a plan in 2.6 s (median) with no retraining, and the plan is kept for every later request for that article.</a:t>
            </a:r>
          </a:p>
        </p:txBody>
      </p:sp>
      <p:sp>
        <p:nvSpPr>
          <p:cNvPr id="16" name="Rounded Rectangle 15"/>
          <p:cNvSpPr/>
          <p:nvPr/>
        </p:nvSpPr>
        <p:spPr>
          <a:xfrm>
            <a:off x="7269480" y="1828800"/>
            <a:ext cx="2011680" cy="1298448"/>
          </a:xfrm>
          <a:prstGeom prst="roundRect">
            <a:avLst>
              <a:gd name="adj" fmla="val 4225"/>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52360" y="1993392"/>
            <a:ext cx="1737360" cy="548640"/>
          </a:xfrm>
          <a:prstGeom prst="rect">
            <a:avLst/>
          </a:prstGeom>
          <a:noFill/>
        </p:spPr>
        <p:txBody>
          <a:bodyPr wrap="square" lIns="0" rIns="0" tIns="0" bIns="0" anchor="t">
            <a:spAutoFit/>
          </a:bodyPr>
          <a:lstStyle/>
          <a:p>
            <a:pPr algn="l">
              <a:spcAft>
                <a:spcPts val="400"/>
              </a:spcAft>
            </a:pPr>
            <a:r>
              <a:rPr sz="2800" b="1" i="0">
                <a:solidFill>
                  <a:srgbClr val="0F766E"/>
                </a:solidFill>
                <a:latin typeface="Arial"/>
              </a:rPr>
              <a:t>13.7 ms</a:t>
            </a:r>
          </a:p>
        </p:txBody>
      </p:sp>
      <p:sp>
        <p:nvSpPr>
          <p:cNvPr id="18" name="TextBox 17"/>
          <p:cNvSpPr txBox="1"/>
          <p:nvPr/>
        </p:nvSpPr>
        <p:spPr>
          <a:xfrm>
            <a:off x="7452360" y="2606040"/>
            <a:ext cx="1737360" cy="457200"/>
          </a:xfrm>
          <a:prstGeom prst="rect">
            <a:avLst/>
          </a:prstGeom>
          <a:noFill/>
        </p:spPr>
        <p:txBody>
          <a:bodyPr wrap="square" lIns="0" rIns="0" tIns="0" bIns="0" anchor="t">
            <a:spAutoFit/>
          </a:bodyPr>
          <a:lstStyle/>
          <a:p>
            <a:pPr algn="l">
              <a:spcAft>
                <a:spcPts val="400"/>
              </a:spcAft>
            </a:pPr>
            <a:r>
              <a:rPr sz="1200" b="0" i="0">
                <a:solidFill>
                  <a:srgbClr val="3F3F5A"/>
                </a:solidFill>
                <a:latin typeface="Calibri"/>
              </a:rPr>
              <a:t>P95 cached answer</a:t>
            </a:r>
          </a:p>
        </p:txBody>
      </p:sp>
      <p:sp>
        <p:nvSpPr>
          <p:cNvPr id="19" name="Rounded Rectangle 18"/>
          <p:cNvSpPr/>
          <p:nvPr/>
        </p:nvSpPr>
        <p:spPr>
          <a:xfrm>
            <a:off x="9418320" y="1828800"/>
            <a:ext cx="2011680" cy="1298448"/>
          </a:xfrm>
          <a:prstGeom prst="roundRect">
            <a:avLst>
              <a:gd name="adj" fmla="val 4225"/>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601200" y="1993392"/>
            <a:ext cx="1737360" cy="548640"/>
          </a:xfrm>
          <a:prstGeom prst="rect">
            <a:avLst/>
          </a:prstGeom>
          <a:noFill/>
        </p:spPr>
        <p:txBody>
          <a:bodyPr wrap="square" lIns="0" rIns="0" tIns="0" bIns="0" anchor="t">
            <a:spAutoFit/>
          </a:bodyPr>
          <a:lstStyle/>
          <a:p>
            <a:pPr algn="l">
              <a:spcAft>
                <a:spcPts val="400"/>
              </a:spcAft>
            </a:pPr>
            <a:r>
              <a:rPr sz="2800" b="1" i="0">
                <a:solidFill>
                  <a:srgbClr val="6D28D9"/>
                </a:solidFill>
                <a:latin typeface="Arial"/>
              </a:rPr>
              <a:t>$0.00</a:t>
            </a:r>
          </a:p>
        </p:txBody>
      </p:sp>
      <p:sp>
        <p:nvSpPr>
          <p:cNvPr id="21" name="TextBox 20"/>
          <p:cNvSpPr txBox="1"/>
          <p:nvPr/>
        </p:nvSpPr>
        <p:spPr>
          <a:xfrm>
            <a:off x="9601200" y="2606040"/>
            <a:ext cx="1737360" cy="457200"/>
          </a:xfrm>
          <a:prstGeom prst="rect">
            <a:avLst/>
          </a:prstGeom>
          <a:noFill/>
        </p:spPr>
        <p:txBody>
          <a:bodyPr wrap="square" lIns="0" rIns="0" tIns="0" bIns="0" anchor="t">
            <a:spAutoFit/>
          </a:bodyPr>
          <a:lstStyle/>
          <a:p>
            <a:pPr algn="l">
              <a:spcAft>
                <a:spcPts val="400"/>
              </a:spcAft>
            </a:pPr>
            <a:r>
              <a:rPr sz="1200" b="0" i="0">
                <a:solidFill>
                  <a:srgbClr val="3F3F5A"/>
                </a:solidFill>
                <a:latin typeface="Calibri"/>
              </a:rPr>
              <a:t>per query: all local</a:t>
            </a:r>
          </a:p>
        </p:txBody>
      </p:sp>
      <p:sp>
        <p:nvSpPr>
          <p:cNvPr id="22" name="Rounded Rectangle 21"/>
          <p:cNvSpPr/>
          <p:nvPr/>
        </p:nvSpPr>
        <p:spPr>
          <a:xfrm>
            <a:off x="7269480" y="3291840"/>
            <a:ext cx="2011680" cy="1298448"/>
          </a:xfrm>
          <a:prstGeom prst="roundRect">
            <a:avLst>
              <a:gd name="adj" fmla="val 4225"/>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52360" y="3456432"/>
            <a:ext cx="1737360" cy="548640"/>
          </a:xfrm>
          <a:prstGeom prst="rect">
            <a:avLst/>
          </a:prstGeom>
          <a:noFill/>
        </p:spPr>
        <p:txBody>
          <a:bodyPr wrap="square" lIns="0" rIns="0" tIns="0" bIns="0" anchor="t">
            <a:spAutoFit/>
          </a:bodyPr>
          <a:lstStyle/>
          <a:p>
            <a:pPr algn="l">
              <a:spcAft>
                <a:spcPts val="400"/>
              </a:spcAft>
            </a:pPr>
            <a:r>
              <a:rPr sz="2800" b="1" i="0">
                <a:solidFill>
                  <a:srgbClr val="1D4ED8"/>
                </a:solidFill>
                <a:latin typeface="Arial"/>
              </a:rPr>
              <a:t>70 req/s</a:t>
            </a:r>
          </a:p>
        </p:txBody>
      </p:sp>
      <p:sp>
        <p:nvSpPr>
          <p:cNvPr id="24" name="TextBox 23"/>
          <p:cNvSpPr txBox="1"/>
          <p:nvPr/>
        </p:nvSpPr>
        <p:spPr>
          <a:xfrm>
            <a:off x="7452360" y="4069080"/>
            <a:ext cx="1737360" cy="457200"/>
          </a:xfrm>
          <a:prstGeom prst="rect">
            <a:avLst/>
          </a:prstGeom>
          <a:noFill/>
        </p:spPr>
        <p:txBody>
          <a:bodyPr wrap="square" lIns="0" rIns="0" tIns="0" bIns="0" anchor="t">
            <a:spAutoFit/>
          </a:bodyPr>
          <a:lstStyle/>
          <a:p>
            <a:pPr algn="l">
              <a:spcAft>
                <a:spcPts val="400"/>
              </a:spcAft>
            </a:pPr>
            <a:r>
              <a:rPr sz="1200" b="0" i="0">
                <a:solidFill>
                  <a:srgbClr val="3F3F5A"/>
                </a:solidFill>
                <a:latin typeface="Calibri"/>
              </a:rPr>
              <a:t>on a laptop, 8 clients</a:t>
            </a:r>
          </a:p>
        </p:txBody>
      </p:sp>
      <p:sp>
        <p:nvSpPr>
          <p:cNvPr id="25" name="Rounded Rectangle 24"/>
          <p:cNvSpPr/>
          <p:nvPr/>
        </p:nvSpPr>
        <p:spPr>
          <a:xfrm>
            <a:off x="9418320" y="3291840"/>
            <a:ext cx="2011680" cy="1298448"/>
          </a:xfrm>
          <a:prstGeom prst="roundRect">
            <a:avLst>
              <a:gd name="adj" fmla="val 4225"/>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01200" y="3456432"/>
            <a:ext cx="1737360" cy="548640"/>
          </a:xfrm>
          <a:prstGeom prst="rect">
            <a:avLst/>
          </a:prstGeom>
          <a:noFill/>
        </p:spPr>
        <p:txBody>
          <a:bodyPr wrap="square" lIns="0" rIns="0" tIns="0" bIns="0" anchor="t">
            <a:spAutoFit/>
          </a:bodyPr>
          <a:lstStyle/>
          <a:p>
            <a:pPr algn="l">
              <a:spcAft>
                <a:spcPts val="400"/>
              </a:spcAft>
            </a:pPr>
            <a:r>
              <a:rPr sz="2800" b="1" i="0">
                <a:solidFill>
                  <a:srgbClr val="B45309"/>
                </a:solidFill>
                <a:latin typeface="Arial"/>
              </a:rPr>
              <a:t>0</a:t>
            </a:r>
          </a:p>
        </p:txBody>
      </p:sp>
      <p:sp>
        <p:nvSpPr>
          <p:cNvPr id="27" name="TextBox 26"/>
          <p:cNvSpPr txBox="1"/>
          <p:nvPr/>
        </p:nvSpPr>
        <p:spPr>
          <a:xfrm>
            <a:off x="9601200" y="4069080"/>
            <a:ext cx="1737360" cy="457200"/>
          </a:xfrm>
          <a:prstGeom prst="rect">
            <a:avLst/>
          </a:prstGeom>
          <a:noFill/>
        </p:spPr>
        <p:txBody>
          <a:bodyPr wrap="square" lIns="0" rIns="0" tIns="0" bIns="0" anchor="t">
            <a:spAutoFit/>
          </a:bodyPr>
          <a:lstStyle/>
          <a:p>
            <a:pPr algn="l">
              <a:spcAft>
                <a:spcPts val="400"/>
              </a:spcAft>
            </a:pPr>
            <a:r>
              <a:rPr sz="1200" b="0" i="0">
                <a:solidFill>
                  <a:srgbClr val="3F3F5A"/>
                </a:solidFill>
                <a:latin typeface="Calibri"/>
              </a:rPr>
              <a:t>invented steps or links</a:t>
            </a:r>
          </a:p>
        </p:txBody>
      </p:sp>
      <p:sp>
        <p:nvSpPr>
          <p:cNvPr id="28" name="Rounded Rectangle 27"/>
          <p:cNvSpPr/>
          <p:nvPr/>
        </p:nvSpPr>
        <p:spPr>
          <a:xfrm>
            <a:off x="7269480" y="4754880"/>
            <a:ext cx="4160520" cy="1298448"/>
          </a:xfrm>
          <a:prstGeom prst="roundRect">
            <a:avLst>
              <a:gd name="adj" fmla="val 4225"/>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52360" y="4846320"/>
            <a:ext cx="3840480" cy="1143000"/>
          </a:xfrm>
          <a:prstGeom prst="rect">
            <a:avLst/>
          </a:prstGeom>
          <a:noFill/>
        </p:spPr>
        <p:txBody>
          <a:bodyPr wrap="square" lIns="0" rIns="0" tIns="0" bIns="0" anchor="t">
            <a:spAutoFit/>
          </a:bodyPr>
          <a:lstStyle/>
          <a:p>
            <a:pPr algn="l">
              <a:spcAft>
                <a:spcPts val="400"/>
              </a:spcAft>
            </a:pPr>
            <a:r>
              <a:rPr sz="1400" b="1" i="0">
                <a:solidFill>
                  <a:srgbClr val="6D28D9"/>
                </a:solidFill>
                <a:latin typeface="Arial"/>
              </a:rPr>
              <a:t>Built for 10k+ scenarios</a:t>
            </a:r>
          </a:p>
          <a:p>
            <a:pPr algn="l">
              <a:spcAft>
                <a:spcPts val="400"/>
              </a:spcAft>
            </a:pPr>
            <a:r>
              <a:rPr sz="1200" b="0" i="0">
                <a:solidFill>
                  <a:srgbClr val="3F3F5A"/>
                </a:solidFill>
                <a:latin typeface="Calibri"/>
              </a:rPr>
              <a:t>Plans are keyed by article and deeplinks come from the catalog, so adding a scenario means compiling one article. No model is fine-tuned.</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TextBox 2"/>
          <p:cNvSpPr txBox="1"/>
          <p:nvPr/>
        </p:nvSpPr>
        <p:spPr>
          <a:xfrm>
            <a:off x="685800" y="1371600"/>
            <a:ext cx="10789920" cy="365760"/>
          </a:xfrm>
          <a:prstGeom prst="rect">
            <a:avLst/>
          </a:prstGeom>
          <a:noFill/>
        </p:spPr>
        <p:txBody>
          <a:bodyPr wrap="square" lIns="0" rIns="0" tIns="0" bIns="0" anchor="t">
            <a:spAutoFit/>
          </a:bodyPr>
          <a:lstStyle/>
          <a:p>
            <a:pPr algn="l">
              <a:spcAft>
                <a:spcPts val="400"/>
              </a:spcAft>
            </a:pPr>
            <a:r>
              <a:rPr sz="1500" b="0" i="0">
                <a:solidFill>
                  <a:srgbClr val="63637E"/>
                </a:solidFill>
                <a:latin typeface="Calibri"/>
              </a:rPr>
              <a:t>Measured on the laptop with nothing else running; raw output in reports/, full report in docs/metrics.md</a:t>
            </a:r>
          </a:p>
        </p:txBody>
      </p:sp>
      <p:sp>
        <p:nvSpPr>
          <p:cNvPr id="4" name="Rounded Rectangle 3"/>
          <p:cNvSpPr/>
          <p:nvPr/>
        </p:nvSpPr>
        <p:spPr>
          <a:xfrm>
            <a:off x="685800" y="1783080"/>
            <a:ext cx="3246120" cy="4617720"/>
          </a:xfrm>
          <a:prstGeom prst="roundRect">
            <a:avLst>
              <a:gd name="adj" fmla="val 169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96112" y="1901952"/>
            <a:ext cx="2834640" cy="320040"/>
          </a:xfrm>
          <a:prstGeom prst="rect">
            <a:avLst/>
          </a:prstGeom>
          <a:noFill/>
        </p:spPr>
        <p:txBody>
          <a:bodyPr wrap="square" lIns="0" rIns="0" tIns="0" bIns="0" anchor="t">
            <a:spAutoFit/>
          </a:bodyPr>
          <a:lstStyle/>
          <a:p>
            <a:pPr algn="l">
              <a:spcAft>
                <a:spcPts val="400"/>
              </a:spcAft>
            </a:pPr>
            <a:r>
              <a:rPr sz="1500" b="1" i="0">
                <a:solidFill>
                  <a:srgbClr val="6D28D9"/>
                </a:solidFill>
                <a:latin typeface="Arial"/>
              </a:rPr>
              <a:t>Innovation highlights</a:t>
            </a:r>
          </a:p>
        </p:txBody>
      </p:sp>
      <p:sp>
        <p:nvSpPr>
          <p:cNvPr id="6" name="TextBox 5"/>
          <p:cNvSpPr txBox="1"/>
          <p:nvPr/>
        </p:nvSpPr>
        <p:spPr>
          <a:xfrm>
            <a:off x="896112" y="2286000"/>
            <a:ext cx="2880360" cy="4023360"/>
          </a:xfrm>
          <a:prstGeom prst="rect">
            <a:avLst/>
          </a:prstGeom>
          <a:noFill/>
        </p:spPr>
        <p:txBody>
          <a:bodyPr wrap="square" lIns="0" rIns="0" tIns="0" bIns="0" anchor="t">
            <a:spAutoFit/>
          </a:bodyPr>
          <a:lstStyle/>
          <a:p>
            <a:pPr algn="l">
              <a:spcAft>
                <a:spcPts val="1000"/>
              </a:spcAft>
            </a:pPr>
            <a:r>
              <a:rPr sz="1250" b="1" i="0">
                <a:solidFill>
                  <a:srgbClr val="14142B"/>
                </a:solidFill>
                <a:latin typeface="Calibri"/>
              </a:rPr>
              <a:t>The model picks, never writes. </a:t>
            </a:r>
            <a:r>
              <a:rPr sz="1250" b="0" i="0">
                <a:solidFill>
                  <a:srgbClr val="3F3F5A"/>
                </a:solidFill>
                <a:latin typeface="Calibri"/>
              </a:rPr>
              <a:t>It returns step numbers; code copies the article's steps verbatim.</a:t>
            </a:r>
          </a:p>
          <a:p>
            <a:pPr algn="l">
              <a:spcAft>
                <a:spcPts val="1000"/>
              </a:spcAft>
            </a:pPr>
            <a:r>
              <a:rPr sz="1250" b="1" i="0">
                <a:solidFill>
                  <a:srgbClr val="14142B"/>
                </a:solidFill>
                <a:latin typeface="Calibri"/>
              </a:rPr>
              <a:t>No model touches a deeplink. </a:t>
            </a:r>
            <a:r>
              <a:rPr sz="1250" b="0" i="0">
                <a:solidFill>
                  <a:srgbClr val="3F3F5A"/>
                </a:solidFill>
                <a:latin typeface="Calibri"/>
              </a:rPr>
              <a:t>A hybrid retriever maps each screen to a catalog URI.</a:t>
            </a:r>
          </a:p>
          <a:p>
            <a:pPr algn="l">
              <a:spcAft>
                <a:spcPts val="1000"/>
              </a:spcAft>
            </a:pPr>
            <a:r>
              <a:rPr sz="1250" b="1" i="0">
                <a:solidFill>
                  <a:srgbClr val="14142B"/>
                </a:solidFill>
                <a:latin typeface="Calibri"/>
              </a:rPr>
              <a:t>The cache is the pipeline, frozen. </a:t>
            </a:r>
            <a:r>
              <a:rPr sz="1250" b="0" i="0">
                <a:solidFill>
                  <a:srgbClr val="3F3F5A"/>
                </a:solidFill>
                <a:latin typeface="Calibri"/>
              </a:rPr>
              <a:t>Cached plans are its own checked output.</a:t>
            </a:r>
          </a:p>
          <a:p>
            <a:pPr algn="l">
              <a:spcAft>
                <a:spcPts val="1000"/>
              </a:spcAft>
            </a:pPr>
            <a:r>
              <a:rPr sz="1250" b="1" i="0">
                <a:solidFill>
                  <a:srgbClr val="14142B"/>
                </a:solidFill>
                <a:latin typeface="Calibri"/>
              </a:rPr>
              <a:t>Two problems, two plans; </a:t>
            </a:r>
            <a:r>
              <a:rPr sz="1250" b="0" i="0">
                <a:solidFill>
                  <a:srgbClr val="3F3F5A"/>
                </a:solidFill>
                <a:latin typeface="Calibri"/>
              </a:rPr>
              <a:t>off-topic complaints get an honest fallback (37 of 38).</a:t>
            </a:r>
          </a:p>
          <a:p>
            <a:pPr algn="l">
              <a:spcAft>
                <a:spcPts val="1000"/>
              </a:spcAft>
            </a:pPr>
            <a:r>
              <a:rPr sz="1250" b="1" i="0">
                <a:solidFill>
                  <a:srgbClr val="14142B"/>
                </a:solidFill>
                <a:latin typeface="Calibri"/>
              </a:rPr>
              <a:t>Casual wording works. </a:t>
            </a:r>
            <a:r>
              <a:rPr sz="1250" b="0" i="0">
                <a:solidFill>
                  <a:srgbClr val="3F3F5A"/>
                </a:solidFill>
                <a:latin typeface="Calibri"/>
              </a:rPr>
              <a:t>Matching is by meaning, so “touch is so slow” finds the same plan as the formal query.</a:t>
            </a:r>
          </a:p>
        </p:txBody>
      </p:sp>
      <p:graphicFrame>
        <p:nvGraphicFramePr>
          <p:cNvPr id="7" name="Table 6"/>
          <p:cNvGraphicFramePr>
            <a:graphicFrameLocks noGrp="1"/>
          </p:cNvGraphicFramePr>
          <p:nvPr/>
        </p:nvGraphicFramePr>
        <p:xfrm>
          <a:off x="4114800" y="1783080"/>
          <a:ext cx="4251960" cy="4206240"/>
        </p:xfrm>
        <a:graphic>
          <a:graphicData uri="http://schemas.openxmlformats.org/drawingml/2006/table">
            <a:tbl>
              <a:tblPr firstRow="0" bandRow="0">
                <a:tableStyleId>{5940675A-B579-460E-94D1-54222C63F5DA}</a:tableStyleId>
              </a:tblPr>
              <a:tblGrid>
                <a:gridCol w="1828800"/>
                <a:gridCol w="822960"/>
                <a:gridCol w="1600200"/>
              </a:tblGrid>
              <a:tr h="420624">
                <a:tc>
                  <a:txBody>
                    <a:bodyPr wrap="square"/>
                    <a:lstStyle/>
                    <a:p>
                      <a:r>
                        <a:rPr sz="1150" b="1">
                          <a:solidFill>
                            <a:srgbClr val="FFFFFF"/>
                          </a:solidFill>
                          <a:latin typeface="Calibri"/>
                        </a:rPr>
                        <a:t>Result</a:t>
                      </a:r>
                    </a:p>
                  </a:txBody>
                  <a:tcPr marL="73152" marR="73152" marT="27432" marB="27432" anchor="ctr">
                    <a:solidFill>
                      <a:srgbClr val="6D28D9"/>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FFFFFF"/>
                          </a:solidFill>
                          <a:latin typeface="Calibri"/>
                        </a:rPr>
                        <a:t>Target</a:t>
                      </a:r>
                    </a:p>
                  </a:txBody>
                  <a:tcPr marL="73152" marR="73152" marT="27432" marB="27432" anchor="ctr">
                    <a:solidFill>
                      <a:srgbClr val="6D28D9"/>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FFFFFF"/>
                          </a:solidFill>
                          <a:latin typeface="Calibri"/>
                        </a:rPr>
                        <a:t>Ours</a:t>
                      </a:r>
                    </a:p>
                  </a:txBody>
                  <a:tcPr marL="73152" marR="73152" marT="27432" marB="27432" anchor="ctr">
                    <a:solidFill>
                      <a:srgbClr val="6D28D9"/>
                    </a:solidFill>
                    <a:lnL w="6350">
                      <a:solidFill>
                        <a:srgbClr val="DDD8EE"/>
                      </a:solidFill>
                    </a:lnL>
                    <a:lnR w="6350">
                      <a:solidFill>
                        <a:srgbClr val="DDD8EE"/>
                      </a:solidFill>
                    </a:lnR>
                    <a:lnT w="6350">
                      <a:solidFill>
                        <a:srgbClr val="DDD8EE"/>
                      </a:solidFill>
                    </a:lnT>
                    <a:lnB w="6350">
                      <a:solidFill>
                        <a:srgbClr val="DDD8EE"/>
                      </a:solidFill>
                    </a:lnB>
                  </a:tcPr>
                </a:tc>
              </a:tr>
              <a:tr h="420624">
                <a:tc>
                  <a:txBody>
                    <a:bodyPr wrap="square"/>
                    <a:lstStyle/>
                    <a:p>
                      <a:r>
                        <a:rPr sz="1150" b="0">
                          <a:solidFill>
                            <a:srgbClr val="3F3F5A"/>
                          </a:solidFill>
                          <a:latin typeface="Calibri"/>
                        </a:rPr>
                        <a:t>Cache hit, P95</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0">
                          <a:solidFill>
                            <a:srgbClr val="3F3F5A"/>
                          </a:solidFill>
                          <a:latin typeface="Calibri"/>
                        </a:rPr>
                        <a:t>≤ 300 ms</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0F766E"/>
                          </a:solidFill>
                          <a:latin typeface="Calibri"/>
                        </a:rPr>
                        <a:t>13.7 ms</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r h="420624">
                <a:tc>
                  <a:txBody>
                    <a:bodyPr wrap="square"/>
                    <a:lstStyle/>
                    <a:p>
                      <a:r>
                        <a:rPr sz="1150" b="0">
                          <a:solidFill>
                            <a:srgbClr val="3F3F5A"/>
                          </a:solidFill>
                          <a:latin typeface="Calibri"/>
                        </a:rPr>
                        <a:t>Live plan, P95</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0">
                          <a:solidFill>
                            <a:srgbClr val="3F3F5A"/>
                          </a:solidFill>
                          <a:latin typeface="Calibri"/>
                        </a:rPr>
                        <a:t>≤ 8 s</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0F766E"/>
                          </a:solidFill>
                          <a:latin typeface="Calibri"/>
                        </a:rPr>
                        <a:t>4.4 s (P50 2.6)</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r>
              <a:tr h="420624">
                <a:tc>
                  <a:txBody>
                    <a:bodyPr wrap="square"/>
                    <a:lstStyle/>
                    <a:p>
                      <a:r>
                        <a:rPr sz="1150" b="0">
                          <a:solidFill>
                            <a:srgbClr val="3F3F5A"/>
                          </a:solidFill>
                          <a:latin typeface="Calibri"/>
                        </a:rPr>
                        <a:t>Schema-valid</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0">
                          <a:solidFill>
                            <a:srgbClr val="3F3F5A"/>
                          </a:solidFill>
                          <a:latin typeface="Calibri"/>
                        </a:rPr>
                        <a:t>≥ 99%</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0F766E"/>
                          </a:solidFill>
                          <a:latin typeface="Calibri"/>
                        </a:rPr>
                        <a:t>100% (325/325)</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r h="420624">
                <a:tc>
                  <a:txBody>
                    <a:bodyPr wrap="square"/>
                    <a:lstStyle/>
                    <a:p>
                      <a:r>
                        <a:rPr sz="1150" b="0">
                          <a:solidFill>
                            <a:srgbClr val="3F3F5A"/>
                          </a:solidFill>
                          <a:latin typeface="Calibri"/>
                        </a:rPr>
                        <a:t>Web-URL leaks</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0">
                          <a:solidFill>
                            <a:srgbClr val="3F3F5A"/>
                          </a:solidFill>
                          <a:latin typeface="Calibri"/>
                        </a:rPr>
                        <a:t>0</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0F766E"/>
                          </a:solidFill>
                          <a:latin typeface="Calibri"/>
                        </a:rPr>
                        <a:t>0</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r>
              <a:tr h="420624">
                <a:tc>
                  <a:txBody>
                    <a:bodyPr wrap="square"/>
                    <a:lstStyle/>
                    <a:p>
                      <a:r>
                        <a:rPr sz="1150" b="0">
                          <a:solidFill>
                            <a:srgbClr val="3F3F5A"/>
                          </a:solidFill>
                          <a:latin typeface="Calibri"/>
                        </a:rPr>
                        <a:t>Deeplinks from catalog</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0">
                          <a:solidFill>
                            <a:srgbClr val="3F3F5A"/>
                          </a:solidFill>
                          <a:latin typeface="Calibri"/>
                        </a:rPr>
                        <a:t>100%</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0F766E"/>
                          </a:solidFill>
                          <a:latin typeface="Calibri"/>
                        </a:rPr>
                        <a:t>100%</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r h="420624">
                <a:tc>
                  <a:txBody>
                    <a:bodyPr wrap="square"/>
                    <a:lstStyle/>
                    <a:p>
                      <a:r>
                        <a:rPr sz="1150" b="0">
                          <a:solidFill>
                            <a:srgbClr val="3F3F5A"/>
                          </a:solidFill>
                          <a:latin typeface="Calibri"/>
                        </a:rPr>
                        <a:t>Hit rate, new wording</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0">
                          <a:solidFill>
                            <a:srgbClr val="3F3F5A"/>
                          </a:solidFill>
                          <a:latin typeface="Calibri"/>
                        </a:rPr>
                        <a:t>≥ 80%</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0F766E"/>
                          </a:solidFill>
                          <a:latin typeface="Calibri"/>
                        </a:rPr>
                        <a:t>84.6% · 100%*</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r>
              <a:tr h="420624">
                <a:tc>
                  <a:txBody>
                    <a:bodyPr wrap="square"/>
                    <a:lstStyle/>
                    <a:p>
                      <a:r>
                        <a:rPr sz="1150" b="0">
                          <a:solidFill>
                            <a:srgbClr val="3F3F5A"/>
                          </a:solidFill>
                          <a:latin typeface="Calibri"/>
                        </a:rPr>
                        <a:t>Step accuracy (0–3)</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0">
                          <a:solidFill>
                            <a:srgbClr val="3F3F5A"/>
                          </a:solidFill>
                          <a:latin typeface="Calibri"/>
                        </a:rPr>
                        <a:t>rubric</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0F766E"/>
                          </a:solidFill>
                          <a:latin typeface="Calibri"/>
                        </a:rPr>
                        <a:t>2.92 · 2.97 live</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r h="420624">
                <a:tc>
                  <a:txBody>
                    <a:bodyPr wrap="square"/>
                    <a:lstStyle/>
                    <a:p>
                      <a:r>
                        <a:rPr sz="1150" b="0">
                          <a:solidFill>
                            <a:srgbClr val="3F3F5A"/>
                          </a:solidFill>
                          <a:latin typeface="Calibri"/>
                        </a:rPr>
                        <a:t>Deeplink relevance (0–2)</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0">
                          <a:solidFill>
                            <a:srgbClr val="3F3F5A"/>
                          </a:solidFill>
                          <a:latin typeface="Calibri"/>
                        </a:rPr>
                        <a:t>rubric</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0F766E"/>
                          </a:solidFill>
                          <a:latin typeface="Calibri"/>
                        </a:rPr>
                        <a:t>1.78</a:t>
                      </a:r>
                    </a:p>
                  </a:txBody>
                  <a:tcPr marL="73152" marR="73152" marT="27432" marB="27432" anchor="ctr">
                    <a:solidFill>
                      <a:srgbClr val="F6F5FB"/>
                    </a:solidFill>
                    <a:lnL w="6350">
                      <a:solidFill>
                        <a:srgbClr val="DDD8EE"/>
                      </a:solidFill>
                    </a:lnL>
                    <a:lnR w="6350">
                      <a:solidFill>
                        <a:srgbClr val="DDD8EE"/>
                      </a:solidFill>
                    </a:lnR>
                    <a:lnT w="6350">
                      <a:solidFill>
                        <a:srgbClr val="DDD8EE"/>
                      </a:solidFill>
                    </a:lnT>
                    <a:lnB w="6350">
                      <a:solidFill>
                        <a:srgbClr val="DDD8EE"/>
                      </a:solidFill>
                    </a:lnB>
                  </a:tcPr>
                </a:tc>
              </a:tr>
              <a:tr h="420624">
                <a:tc>
                  <a:txBody>
                    <a:bodyPr wrap="square"/>
                    <a:lstStyle/>
                    <a:p>
                      <a:r>
                        <a:rPr sz="1150" b="0">
                          <a:solidFill>
                            <a:srgbClr val="3F3F5A"/>
                          </a:solidFill>
                          <a:latin typeface="Calibri"/>
                        </a:rPr>
                        <a:t>Cost per query</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0">
                          <a:solidFill>
                            <a:srgbClr val="3F3F5A"/>
                          </a:solidFill>
                          <a:latin typeface="Calibri"/>
                        </a:rPr>
                        <a:t>tracked</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c>
                  <a:txBody>
                    <a:bodyPr wrap="square"/>
                    <a:lstStyle/>
                    <a:p>
                      <a:r>
                        <a:rPr sz="1150" b="1">
                          <a:solidFill>
                            <a:srgbClr val="0F766E"/>
                          </a:solidFill>
                          <a:latin typeface="Calibri"/>
                        </a:rPr>
                        <a:t>$0.00</a:t>
                      </a:r>
                    </a:p>
                  </a:txBody>
                  <a:tcPr marL="73152" marR="73152" marT="27432" marB="27432" anchor="ctr">
                    <a:solidFill>
                      <a:srgbClr val="FFFFFF"/>
                    </a:solidFill>
                    <a:lnL w="6350">
                      <a:solidFill>
                        <a:srgbClr val="DDD8EE"/>
                      </a:solidFill>
                    </a:lnL>
                    <a:lnR w="6350">
                      <a:solidFill>
                        <a:srgbClr val="DDD8EE"/>
                      </a:solidFill>
                    </a:lnR>
                    <a:lnT w="6350">
                      <a:solidFill>
                        <a:srgbClr val="DDD8EE"/>
                      </a:solidFill>
                    </a:lnT>
                    <a:lnB w="6350">
                      <a:solidFill>
                        <a:srgbClr val="DDD8EE"/>
                      </a:solidFill>
                    </a:lnB>
                  </a:tcPr>
                </a:tc>
              </a:tr>
            </a:tbl>
          </a:graphicData>
        </a:graphic>
      </p:graphicFrame>
      <p:sp>
        <p:nvSpPr>
          <p:cNvPr id="8" name="TextBox 7"/>
          <p:cNvSpPr txBox="1"/>
          <p:nvPr/>
        </p:nvSpPr>
        <p:spPr>
          <a:xfrm>
            <a:off x="4114800" y="6053328"/>
            <a:ext cx="4251960" cy="320040"/>
          </a:xfrm>
          <a:prstGeom prst="rect">
            <a:avLst/>
          </a:prstGeom>
          <a:noFill/>
        </p:spPr>
        <p:txBody>
          <a:bodyPr wrap="square" lIns="0" rIns="0" tIns="0" bIns="0" anchor="t">
            <a:spAutoFit/>
          </a:bodyPr>
          <a:lstStyle/>
          <a:p>
            <a:pPr algn="l">
              <a:spcAft>
                <a:spcPts val="400"/>
              </a:spcAft>
            </a:pPr>
            <a:r>
              <a:rPr sz="1000" b="0" i="1">
                <a:solidFill>
                  <a:srgbClr val="63637E"/>
                </a:solidFill>
                <a:latin typeface="Calibri"/>
              </a:rPr>
              <a:t>* 84.6% on the tuning set, 100% on 27 phrasings written afterwards</a:t>
            </a:r>
          </a:p>
        </p:txBody>
      </p:sp>
      <p:sp>
        <p:nvSpPr>
          <p:cNvPr id="9" name="Rounded Rectangle 8"/>
          <p:cNvSpPr/>
          <p:nvPr/>
        </p:nvSpPr>
        <p:spPr>
          <a:xfrm>
            <a:off x="8549640" y="1783080"/>
            <a:ext cx="2953512" cy="4617720"/>
          </a:xfrm>
          <a:prstGeom prst="roundRect">
            <a:avLst>
              <a:gd name="adj" fmla="val 1857"/>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759952" y="1901952"/>
            <a:ext cx="2560320" cy="320040"/>
          </a:xfrm>
          <a:prstGeom prst="rect">
            <a:avLst/>
          </a:prstGeom>
          <a:noFill/>
        </p:spPr>
        <p:txBody>
          <a:bodyPr wrap="square" lIns="0" rIns="0" tIns="0" bIns="0" anchor="t">
            <a:spAutoFit/>
          </a:bodyPr>
          <a:lstStyle/>
          <a:p>
            <a:pPr algn="l">
              <a:spcAft>
                <a:spcPts val="400"/>
              </a:spcAft>
            </a:pPr>
            <a:r>
              <a:rPr sz="1500" b="1" i="0">
                <a:solidFill>
                  <a:srgbClr val="B45309"/>
                </a:solidFill>
                <a:latin typeface="Arial"/>
              </a:rPr>
              <a:t>Limitations</a:t>
            </a:r>
          </a:p>
        </p:txBody>
      </p:sp>
      <p:sp>
        <p:nvSpPr>
          <p:cNvPr id="11" name="TextBox 10"/>
          <p:cNvSpPr txBox="1"/>
          <p:nvPr/>
        </p:nvSpPr>
        <p:spPr>
          <a:xfrm>
            <a:off x="8759952" y="2286000"/>
            <a:ext cx="2606040" cy="4023360"/>
          </a:xfrm>
          <a:prstGeom prst="rect">
            <a:avLst/>
          </a:prstGeom>
          <a:noFill/>
        </p:spPr>
        <p:txBody>
          <a:bodyPr wrap="square" lIns="0" rIns="0" tIns="0" bIns="0" anchor="t">
            <a:spAutoFit/>
          </a:bodyPr>
          <a:lstStyle/>
          <a:p>
            <a:pPr algn="l" marL="182880" indent="-182880">
              <a:spcAft>
                <a:spcPts val="700"/>
              </a:spcAft>
              <a:buChar char="•"/>
            </a:pPr>
            <a:r>
              <a:rPr sz="1200" b="0" i="0">
                <a:solidFill>
                  <a:srgbClr val="14142B"/>
                </a:solidFill>
                <a:latin typeface="Calibri"/>
              </a:rPr>
              <a:t>Cached plans cover Display only: all supplied data is Display.</a:t>
            </a:r>
          </a:p>
          <a:p>
            <a:pPr algn="l" marL="182880" indent="-182880">
              <a:spcAft>
                <a:spcPts val="700"/>
              </a:spcAft>
              <a:buChar char="•"/>
            </a:pPr>
            <a:r>
              <a:rPr sz="1200" b="0" i="0">
                <a:solidFill>
                  <a:srgbClr val="14142B"/>
                </a:solidFill>
                <a:latin typeface="Calibri"/>
              </a:rPr>
              <a:t>Live plans link a specific screen for 19% of settings actions (69% for cached plans).</a:t>
            </a:r>
          </a:p>
          <a:p>
            <a:pPr algn="l" marL="182880" indent="-182880">
              <a:spcAft>
                <a:spcPts val="700"/>
              </a:spcAft>
              <a:buChar char="•"/>
            </a:pPr>
            <a:r>
              <a:rPr sz="1200" b="0" i="0">
                <a:solidFill>
                  <a:srgbClr val="14142B"/>
                </a:solidFill>
                <a:latin typeface="Calibri"/>
              </a:rPr>
              <a:t>In a two-problem complaint, a problem no plan covers is dropped without notice.</a:t>
            </a:r>
          </a:p>
          <a:p>
            <a:pPr algn="l" marL="182880" indent="-182880">
              <a:spcAft>
                <a:spcPts val="700"/>
              </a:spcAft>
              <a:buChar char="•"/>
            </a:pPr>
            <a:r>
              <a:rPr sz="1200" b="0" i="0">
                <a:solidFill>
                  <a:srgbClr val="14142B"/>
                </a:solidFill>
                <a:latin typeface="Calibri"/>
              </a:rPr>
              <a:t>A new article always takes the live path, even when a cached plan fits.</a:t>
            </a:r>
          </a:p>
          <a:p>
            <a:pPr algn="l" marL="182880" indent="-182880">
              <a:spcAft>
                <a:spcPts val="700"/>
              </a:spcAft>
              <a:buChar char="•"/>
            </a:pPr>
            <a:r>
              <a:rPr sz="1200" b="0" i="0">
                <a:solidFill>
                  <a:srgbClr val="14142B"/>
                </a:solidFill>
                <a:latin typeface="Calibri"/>
              </a:rPr>
              <a:t>Very vague wording (“my phone is being weird”) gets the fallback; two problems need a clear break between them.</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TextBox 2"/>
          <p:cNvSpPr txBox="1"/>
          <p:nvPr/>
        </p:nvSpPr>
        <p:spPr>
          <a:xfrm>
            <a:off x="685800" y="1371600"/>
            <a:ext cx="10789920" cy="365760"/>
          </a:xfrm>
          <a:prstGeom prst="rect">
            <a:avLst/>
          </a:prstGeom>
          <a:noFill/>
        </p:spPr>
        <p:txBody>
          <a:bodyPr wrap="square" lIns="0" rIns="0" tIns="0" bIns="0" anchor="t">
            <a:spAutoFit/>
          </a:bodyPr>
          <a:lstStyle/>
          <a:p>
            <a:pPr algn="l">
              <a:spcAft>
                <a:spcPts val="400"/>
              </a:spcAft>
            </a:pPr>
            <a:r>
              <a:rPr sz="1500" b="0" i="0">
                <a:solidFill>
                  <a:srgbClr val="63637E"/>
                </a:solidFill>
                <a:latin typeface="Calibri"/>
              </a:rPr>
              <a:t>From a laptop prototype to a worklet: each step builds on what is already measured</a:t>
            </a:r>
          </a:p>
        </p:txBody>
      </p:sp>
      <p:sp>
        <p:nvSpPr>
          <p:cNvPr id="4" name="Rounded Rectangle 3"/>
          <p:cNvSpPr/>
          <p:nvPr/>
        </p:nvSpPr>
        <p:spPr>
          <a:xfrm>
            <a:off x="685800" y="1828800"/>
            <a:ext cx="5303520" cy="1325880"/>
          </a:xfrm>
          <a:prstGeom prst="roundRect">
            <a:avLst>
              <a:gd name="adj" fmla="val 4137"/>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14400" y="202996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6" name="TextBox 5"/>
          <p:cNvSpPr txBox="1"/>
          <p:nvPr/>
        </p:nvSpPr>
        <p:spPr>
          <a:xfrm>
            <a:off x="1463040" y="1984248"/>
            <a:ext cx="434340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Cover Battery, Camera, Performance</a:t>
            </a:r>
          </a:p>
        </p:txBody>
      </p:sp>
      <p:sp>
        <p:nvSpPr>
          <p:cNvPr id="7" name="TextBox 6"/>
          <p:cNvSpPr txBox="1"/>
          <p:nvPr/>
        </p:nvSpPr>
        <p:spPr>
          <a:xfrm>
            <a:off x="1463040" y="2331720"/>
            <a:ext cx="4343400" cy="777240"/>
          </a:xfrm>
          <a:prstGeom prst="rect">
            <a:avLst/>
          </a:prstGeom>
          <a:noFill/>
        </p:spPr>
        <p:txBody>
          <a:bodyPr wrap="square" lIns="0" rIns="0" tIns="0" bIns="0" anchor="t">
            <a:spAutoFit/>
          </a:bodyPr>
          <a:lstStyle/>
          <a:p>
            <a:pPr algn="l">
              <a:spcAft>
                <a:spcPts val="400"/>
              </a:spcAft>
            </a:pPr>
            <a:r>
              <a:rPr sz="1250" b="0" i="0">
                <a:solidFill>
                  <a:srgbClr val="3F3F5A"/>
                </a:solidFill>
                <a:latin typeface="Calibri"/>
              </a:rPr>
              <a:t>Compile plans from their articles. The pipeline already maps their screens: 100% on 26 labelled deeplinks.</a:t>
            </a:r>
          </a:p>
        </p:txBody>
      </p:sp>
      <p:sp>
        <p:nvSpPr>
          <p:cNvPr id="8" name="Rounded Rectangle 7"/>
          <p:cNvSpPr/>
          <p:nvPr/>
        </p:nvSpPr>
        <p:spPr>
          <a:xfrm>
            <a:off x="6172200" y="1828800"/>
            <a:ext cx="5303520" cy="1325880"/>
          </a:xfrm>
          <a:prstGeom prst="roundRect">
            <a:avLst>
              <a:gd name="adj" fmla="val 413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400800" y="202996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0" name="TextBox 9"/>
          <p:cNvSpPr txBox="1"/>
          <p:nvPr/>
        </p:nvSpPr>
        <p:spPr>
          <a:xfrm>
            <a:off x="6949440" y="1984248"/>
            <a:ext cx="434340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Device-state-aware plans</a:t>
            </a:r>
          </a:p>
        </p:txBody>
      </p:sp>
      <p:sp>
        <p:nvSpPr>
          <p:cNvPr id="11" name="TextBox 10"/>
          <p:cNvSpPr txBox="1"/>
          <p:nvPr/>
        </p:nvSpPr>
        <p:spPr>
          <a:xfrm>
            <a:off x="6949440" y="2331720"/>
            <a:ext cx="4343400" cy="777240"/>
          </a:xfrm>
          <a:prstGeom prst="rect">
            <a:avLst/>
          </a:prstGeom>
          <a:noFill/>
        </p:spPr>
        <p:txBody>
          <a:bodyPr wrap="square" lIns="0" rIns="0" tIns="0" bIns="0" anchor="t">
            <a:spAutoFit/>
          </a:bodyPr>
          <a:lstStyle/>
          <a:p>
            <a:pPr algn="l">
              <a:spcAft>
                <a:spcPts val="400"/>
              </a:spcAft>
            </a:pPr>
            <a:r>
              <a:rPr sz="1250" b="0" i="0">
                <a:solidFill>
                  <a:srgbClr val="3F3F5A"/>
                </a:solidFill>
                <a:latin typeface="Calibri"/>
              </a:rPr>
              <a:t>Read each step's validationDeeplink on the phone and skip steps whose setting is already right.</a:t>
            </a:r>
          </a:p>
        </p:txBody>
      </p:sp>
      <p:sp>
        <p:nvSpPr>
          <p:cNvPr id="12" name="Rounded Rectangle 11"/>
          <p:cNvSpPr/>
          <p:nvPr/>
        </p:nvSpPr>
        <p:spPr>
          <a:xfrm>
            <a:off x="685800" y="3310128"/>
            <a:ext cx="5303520" cy="1325880"/>
          </a:xfrm>
          <a:prstGeom prst="roundRect">
            <a:avLst>
              <a:gd name="adj" fmla="val 4137"/>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14400" y="3511296"/>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4" name="TextBox 13"/>
          <p:cNvSpPr txBox="1"/>
          <p:nvPr/>
        </p:nvSpPr>
        <p:spPr>
          <a:xfrm>
            <a:off x="1463040" y="3465576"/>
            <a:ext cx="434340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Say what went unanswered</a:t>
            </a:r>
          </a:p>
        </p:txBody>
      </p:sp>
      <p:sp>
        <p:nvSpPr>
          <p:cNvPr id="15" name="TextBox 14"/>
          <p:cNvSpPr txBox="1"/>
          <p:nvPr/>
        </p:nvSpPr>
        <p:spPr>
          <a:xfrm>
            <a:off x="1463040" y="3813048"/>
            <a:ext cx="4343400" cy="777240"/>
          </a:xfrm>
          <a:prstGeom prst="rect">
            <a:avLst/>
          </a:prstGeom>
          <a:noFill/>
        </p:spPr>
        <p:txBody>
          <a:bodyPr wrap="square" lIns="0" rIns="0" tIns="0" bIns="0" anchor="t">
            <a:spAutoFit/>
          </a:bodyPr>
          <a:lstStyle/>
          <a:p>
            <a:pPr algn="l">
              <a:spcAft>
                <a:spcPts val="400"/>
              </a:spcAft>
            </a:pPr>
            <a:r>
              <a:rPr sz="1250" b="0" i="0">
                <a:solidFill>
                  <a:srgbClr val="3F3F5A"/>
                </a:solidFill>
                <a:latin typeface="Calibri"/>
              </a:rPr>
              <a:t>Tell the caller when one problem in a complaint had no plan, instead of dropping it.</a:t>
            </a:r>
          </a:p>
        </p:txBody>
      </p:sp>
      <p:sp>
        <p:nvSpPr>
          <p:cNvPr id="16" name="Rounded Rectangle 15"/>
          <p:cNvSpPr/>
          <p:nvPr/>
        </p:nvSpPr>
        <p:spPr>
          <a:xfrm>
            <a:off x="6172200" y="3310128"/>
            <a:ext cx="5303520" cy="1325880"/>
          </a:xfrm>
          <a:prstGeom prst="roundRect">
            <a:avLst>
              <a:gd name="adj" fmla="val 413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00800" y="3511296"/>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18" name="TextBox 17"/>
          <p:cNvSpPr txBox="1"/>
          <p:nvPr/>
        </p:nvSpPr>
        <p:spPr>
          <a:xfrm>
            <a:off x="6949440" y="3465576"/>
            <a:ext cx="434340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More one-tap links in live plans</a:t>
            </a:r>
          </a:p>
        </p:txBody>
      </p:sp>
      <p:sp>
        <p:nvSpPr>
          <p:cNvPr id="19" name="TextBox 18"/>
          <p:cNvSpPr txBox="1"/>
          <p:nvPr/>
        </p:nvSpPr>
        <p:spPr>
          <a:xfrm>
            <a:off x="6949440" y="3813048"/>
            <a:ext cx="4343400" cy="777240"/>
          </a:xfrm>
          <a:prstGeom prst="rect">
            <a:avLst/>
          </a:prstGeom>
          <a:noFill/>
        </p:spPr>
        <p:txBody>
          <a:bodyPr wrap="square" lIns="0" rIns="0" tIns="0" bIns="0" anchor="t">
            <a:spAutoFit/>
          </a:bodyPr>
          <a:lstStyle/>
          <a:p>
            <a:pPr algn="l">
              <a:spcAft>
                <a:spcPts val="400"/>
              </a:spcAft>
            </a:pPr>
            <a:r>
              <a:rPr sz="1250" b="0" i="0">
                <a:solidFill>
                  <a:srgbClr val="3F3F5A"/>
                </a:solidFill>
                <a:latin typeface="Calibri"/>
              </a:rPr>
              <a:t>Raise specific-screen coverage from 19% toward the cached plans' 69% with better screen descriptions.</a:t>
            </a:r>
          </a:p>
        </p:txBody>
      </p:sp>
      <p:sp>
        <p:nvSpPr>
          <p:cNvPr id="20" name="Rounded Rectangle 19"/>
          <p:cNvSpPr/>
          <p:nvPr/>
        </p:nvSpPr>
        <p:spPr>
          <a:xfrm>
            <a:off x="685800" y="4791456"/>
            <a:ext cx="5303520" cy="1325880"/>
          </a:xfrm>
          <a:prstGeom prst="roundRect">
            <a:avLst>
              <a:gd name="adj" fmla="val 4137"/>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14400" y="4992624"/>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5</a:t>
            </a:r>
          </a:p>
        </p:txBody>
      </p:sp>
      <p:sp>
        <p:nvSpPr>
          <p:cNvPr id="22" name="TextBox 21"/>
          <p:cNvSpPr txBox="1"/>
          <p:nvPr/>
        </p:nvSpPr>
        <p:spPr>
          <a:xfrm>
            <a:off x="1463040" y="4946904"/>
            <a:ext cx="434340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On-device</a:t>
            </a:r>
          </a:p>
        </p:txBody>
      </p:sp>
      <p:sp>
        <p:nvSpPr>
          <p:cNvPr id="23" name="TextBox 22"/>
          <p:cNvSpPr txBox="1"/>
          <p:nvPr/>
        </p:nvSpPr>
        <p:spPr>
          <a:xfrm>
            <a:off x="1463040" y="5294376"/>
            <a:ext cx="4343400" cy="777240"/>
          </a:xfrm>
          <a:prstGeom prst="rect">
            <a:avLst/>
          </a:prstGeom>
          <a:noFill/>
        </p:spPr>
        <p:txBody>
          <a:bodyPr wrap="square" lIns="0" rIns="0" tIns="0" bIns="0" anchor="t">
            <a:spAutoFit/>
          </a:bodyPr>
          <a:lstStyle/>
          <a:p>
            <a:pPr algn="l">
              <a:spcAft>
                <a:spcPts val="400"/>
              </a:spcAft>
            </a:pPr>
            <a:r>
              <a:rPr sz="1250" b="0" i="0">
                <a:solidFill>
                  <a:srgbClr val="3F3F5A"/>
                </a:solidFill>
                <a:latin typeface="Calibri"/>
              </a:rPr>
              <a:t>Measure the 1.5B model on a Galaxy phone's CPU/NPU, so plans work offline.</a:t>
            </a:r>
          </a:p>
        </p:txBody>
      </p:sp>
      <p:sp>
        <p:nvSpPr>
          <p:cNvPr id="24" name="Rounded Rectangle 23"/>
          <p:cNvSpPr/>
          <p:nvPr/>
        </p:nvSpPr>
        <p:spPr>
          <a:xfrm>
            <a:off x="6172200" y="4791456"/>
            <a:ext cx="5303520" cy="1325880"/>
          </a:xfrm>
          <a:prstGeom prst="roundRect">
            <a:avLst>
              <a:gd name="adj" fmla="val 413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400800" y="4992624"/>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6</a:t>
            </a:r>
          </a:p>
        </p:txBody>
      </p:sp>
      <p:sp>
        <p:nvSpPr>
          <p:cNvPr id="26" name="TextBox 25"/>
          <p:cNvSpPr txBox="1"/>
          <p:nvPr/>
        </p:nvSpPr>
        <p:spPr>
          <a:xfrm>
            <a:off x="6949440" y="4946904"/>
            <a:ext cx="434340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More languages</a:t>
            </a:r>
          </a:p>
        </p:txBody>
      </p:sp>
      <p:sp>
        <p:nvSpPr>
          <p:cNvPr id="27" name="TextBox 26"/>
          <p:cNvSpPr txBox="1"/>
          <p:nvPr/>
        </p:nvSpPr>
        <p:spPr>
          <a:xfrm>
            <a:off x="6949440" y="5294376"/>
            <a:ext cx="4343400" cy="777240"/>
          </a:xfrm>
          <a:prstGeom prst="rect">
            <a:avLst/>
          </a:prstGeom>
          <a:noFill/>
        </p:spPr>
        <p:txBody>
          <a:bodyPr wrap="square" lIns="0" rIns="0" tIns="0" bIns="0" anchor="t">
            <a:spAutoFit/>
          </a:bodyPr>
          <a:lstStyle/>
          <a:p>
            <a:pPr algn="l">
              <a:spcAft>
                <a:spcPts val="400"/>
              </a:spcAft>
            </a:pPr>
            <a:r>
              <a:rPr sz="1250" b="0" i="0">
                <a:solidFill>
                  <a:srgbClr val="3F3F5A"/>
                </a:solidFill>
                <a:latin typeface="Calibri"/>
              </a:rPr>
              <a:t>Hindi and code-mixed Hinglish complaints, via multilingual embeddings.</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TextBox 2"/>
          <p:cNvSpPr txBox="1"/>
          <p:nvPr/>
        </p:nvSpPr>
        <p:spPr>
          <a:xfrm>
            <a:off x="685800" y="1371600"/>
            <a:ext cx="10789920" cy="365760"/>
          </a:xfrm>
          <a:prstGeom prst="rect">
            <a:avLst/>
          </a:prstGeom>
          <a:noFill/>
        </p:spPr>
        <p:txBody>
          <a:bodyPr wrap="square" lIns="0" rIns="0" tIns="0" bIns="0" anchor="t">
            <a:spAutoFit/>
          </a:bodyPr>
          <a:lstStyle/>
          <a:p>
            <a:pPr algn="l">
              <a:spcAft>
                <a:spcPts val="400"/>
              </a:spcAft>
            </a:pPr>
            <a:r>
              <a:rPr sz="1500" b="0" i="0">
                <a:solidFill>
                  <a:srgbClr val="63637E"/>
                </a:solidFill>
                <a:latin typeface="Calibri"/>
              </a:rPr>
              <a:t>We measured the design choices, not just the system: same 1.5B model, same 11 articles</a:t>
            </a:r>
          </a:p>
        </p:txBody>
      </p:sp>
      <p:sp>
        <p:nvSpPr>
          <p:cNvPr id="4" name="Rounded Rectangle 3"/>
          <p:cNvSpPr/>
          <p:nvPr/>
        </p:nvSpPr>
        <p:spPr>
          <a:xfrm>
            <a:off x="685800" y="1783080"/>
            <a:ext cx="3611880" cy="4617720"/>
          </a:xfrm>
          <a:prstGeom prst="roundRect">
            <a:avLst>
              <a:gd name="adj" fmla="val 1518"/>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86968" y="1901952"/>
            <a:ext cx="320040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Steps: pick, don't write</a:t>
            </a:r>
          </a:p>
        </p:txBody>
      </p:sp>
      <p:sp>
        <p:nvSpPr>
          <p:cNvPr id="6" name="TextBox 5"/>
          <p:cNvSpPr txBox="1"/>
          <p:nvPr/>
        </p:nvSpPr>
        <p:spPr>
          <a:xfrm>
            <a:off x="886968" y="2240280"/>
            <a:ext cx="3200400" cy="274320"/>
          </a:xfrm>
          <a:prstGeom prst="rect">
            <a:avLst/>
          </a:prstGeom>
          <a:noFill/>
        </p:spPr>
        <p:txBody>
          <a:bodyPr wrap="square" lIns="0" rIns="0" tIns="0" bIns="0" anchor="t">
            <a:spAutoFit/>
          </a:bodyPr>
          <a:lstStyle/>
          <a:p>
            <a:pPr algn="l">
              <a:spcAft>
                <a:spcPts val="400"/>
              </a:spcAft>
            </a:pPr>
            <a:r>
              <a:rPr sz="1100" b="0" i="0">
                <a:solidFill>
                  <a:srgbClr val="63637E"/>
                </a:solidFill>
                <a:latin typeface="Calibri"/>
              </a:rPr>
              <a:t>Plan steps that are the article's own words</a:t>
            </a:r>
          </a:p>
        </p:txBody>
      </p:sp>
      <p:graphicFrame>
        <p:nvGraphicFramePr>
          <p:cNvPr id="7" name="Chart 6"/>
          <p:cNvGraphicFramePr>
            <a:graphicFrameLocks noGrp="1"/>
          </p:cNvGraphicFramePr>
          <p:nvPr/>
        </p:nvGraphicFramePr>
        <p:xfrm>
          <a:off x="777240" y="2560320"/>
          <a:ext cx="3429000" cy="2560320"/>
        </p:xfrm>
        <a:graphic>
          <a:graphicData uri="http://schemas.openxmlformats.org/drawingml/2006/chart">
            <c:chart xmlns:c="http://schemas.openxmlformats.org/drawingml/2006/chart" r:id="rId2"/>
          </a:graphicData>
        </a:graphic>
      </p:graphicFrame>
      <p:sp>
        <p:nvSpPr>
          <p:cNvPr id="8" name="TextBox 7"/>
          <p:cNvSpPr txBox="1"/>
          <p:nvPr/>
        </p:nvSpPr>
        <p:spPr>
          <a:xfrm>
            <a:off x="886968" y="5257800"/>
            <a:ext cx="3200400" cy="1051560"/>
          </a:xfrm>
          <a:prstGeom prst="rect">
            <a:avLst/>
          </a:prstGeom>
          <a:noFill/>
        </p:spPr>
        <p:txBody>
          <a:bodyPr wrap="square" lIns="0" rIns="0" tIns="0" bIns="0" anchor="t">
            <a:spAutoFit/>
          </a:bodyPr>
          <a:lstStyle/>
          <a:p>
            <a:pPr algn="l" marL="182880" indent="-182880">
              <a:spcAft>
                <a:spcPts val="400"/>
              </a:spcAft>
              <a:buChar char="•"/>
            </a:pPr>
            <a:r>
              <a:rPr sz="1200" b="0" i="0">
                <a:solidFill>
                  <a:srgbClr val="14142B"/>
                </a:solidFill>
                <a:latin typeface="Calibri"/>
              </a:rPr>
              <a:t>Writing: 61% more tokens and 10.1 s P95, over the 8 s budget (picking: 4.5 s).</a:t>
            </a:r>
          </a:p>
        </p:txBody>
      </p:sp>
      <p:sp>
        <p:nvSpPr>
          <p:cNvPr id="9" name="Rounded Rectangle 8"/>
          <p:cNvSpPr/>
          <p:nvPr/>
        </p:nvSpPr>
        <p:spPr>
          <a:xfrm>
            <a:off x="4480560" y="1783080"/>
            <a:ext cx="3611880" cy="4617720"/>
          </a:xfrm>
          <a:prstGeom prst="roundRect">
            <a:avLst>
              <a:gd name="adj" fmla="val 1518"/>
            </a:avLst>
          </a:prstGeom>
          <a:solidFill>
            <a:srgbClr val="F6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81728" y="1901952"/>
            <a:ext cx="3200400" cy="320040"/>
          </a:xfrm>
          <a:prstGeom prst="rect">
            <a:avLst/>
          </a:prstGeom>
          <a:noFill/>
        </p:spPr>
        <p:txBody>
          <a:bodyPr wrap="square" lIns="0" rIns="0" tIns="0" bIns="0" anchor="t">
            <a:spAutoFit/>
          </a:bodyPr>
          <a:lstStyle/>
          <a:p>
            <a:pPr algn="l">
              <a:spcAft>
                <a:spcPts val="400"/>
              </a:spcAft>
            </a:pPr>
            <a:r>
              <a:rPr sz="1500" b="1" i="0">
                <a:solidFill>
                  <a:srgbClr val="14142B"/>
                </a:solidFill>
                <a:latin typeface="Arial"/>
              </a:rPr>
              <a:t>Deeplinks: retrieve, don't write</a:t>
            </a:r>
          </a:p>
        </p:txBody>
      </p:sp>
      <p:sp>
        <p:nvSpPr>
          <p:cNvPr id="11" name="TextBox 10"/>
          <p:cNvSpPr txBox="1"/>
          <p:nvPr/>
        </p:nvSpPr>
        <p:spPr>
          <a:xfrm>
            <a:off x="4681728" y="2240280"/>
            <a:ext cx="3200400" cy="274320"/>
          </a:xfrm>
          <a:prstGeom prst="rect">
            <a:avLst/>
          </a:prstGeom>
          <a:noFill/>
        </p:spPr>
        <p:txBody>
          <a:bodyPr wrap="square" lIns="0" rIns="0" tIns="0" bIns="0" anchor="t">
            <a:spAutoFit/>
          </a:bodyPr>
          <a:lstStyle/>
          <a:p>
            <a:pPr algn="l">
              <a:spcAft>
                <a:spcPts val="400"/>
              </a:spcAft>
            </a:pPr>
            <a:r>
              <a:rPr sz="1100" b="0" i="0">
                <a:solidFill>
                  <a:srgbClr val="63637E"/>
                </a:solidFill>
                <a:latin typeface="Calibri"/>
              </a:rPr>
              <a:t>Screens linked correctly (43 hand-labelled)</a:t>
            </a:r>
          </a:p>
        </p:txBody>
      </p:sp>
      <p:graphicFrame>
        <p:nvGraphicFramePr>
          <p:cNvPr id="12" name="Chart 11"/>
          <p:cNvGraphicFramePr>
            <a:graphicFrameLocks noGrp="1"/>
          </p:cNvGraphicFramePr>
          <p:nvPr/>
        </p:nvGraphicFramePr>
        <p:xfrm>
          <a:off x="4572000" y="2560320"/>
          <a:ext cx="3429000" cy="2560320"/>
        </p:xfrm>
        <a:graphic>
          <a:graphicData uri="http://schemas.openxmlformats.org/drawingml/2006/chart">
            <c:chart xmlns:c="http://schemas.openxmlformats.org/drawingml/2006/chart" r:id="rId3"/>
          </a:graphicData>
        </a:graphic>
      </p:graphicFrame>
      <p:sp>
        <p:nvSpPr>
          <p:cNvPr id="13" name="TextBox 12"/>
          <p:cNvSpPr txBox="1"/>
          <p:nvPr/>
        </p:nvSpPr>
        <p:spPr>
          <a:xfrm>
            <a:off x="4681728" y="5257800"/>
            <a:ext cx="3200400" cy="1051560"/>
          </a:xfrm>
          <a:prstGeom prst="rect">
            <a:avLst/>
          </a:prstGeom>
          <a:noFill/>
        </p:spPr>
        <p:txBody>
          <a:bodyPr wrap="square" lIns="0" rIns="0" tIns="0" bIns="0" anchor="t">
            <a:spAutoFit/>
          </a:bodyPr>
          <a:lstStyle/>
          <a:p>
            <a:pPr algn="l" marL="182880" indent="-182880">
              <a:spcAft>
                <a:spcPts val="400"/>
              </a:spcAft>
              <a:buChar char="•"/>
            </a:pPr>
            <a:r>
              <a:rPr sz="1200" b="0" i="0">
                <a:solidFill>
                  <a:srgbClr val="14142B"/>
                </a:solidFill>
                <a:latin typeface="Calibri"/>
              </a:rPr>
              <a:t>Catalog URIs are masked: a model writing them invents 42 of 43.</a:t>
            </a:r>
          </a:p>
        </p:txBody>
      </p:sp>
      <p:sp>
        <p:nvSpPr>
          <p:cNvPr id="14" name="Rounded Rectangle 13"/>
          <p:cNvSpPr/>
          <p:nvPr/>
        </p:nvSpPr>
        <p:spPr>
          <a:xfrm>
            <a:off x="8275320" y="1783080"/>
            <a:ext cx="3227832" cy="4617720"/>
          </a:xfrm>
          <a:prstGeom prst="roundRect">
            <a:avLst>
              <a:gd name="adj" fmla="val 1699"/>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85632" y="1901952"/>
            <a:ext cx="2834640" cy="320040"/>
          </a:xfrm>
          <a:prstGeom prst="rect">
            <a:avLst/>
          </a:prstGeom>
          <a:noFill/>
        </p:spPr>
        <p:txBody>
          <a:bodyPr wrap="square" lIns="0" rIns="0" tIns="0" bIns="0" anchor="t">
            <a:spAutoFit/>
          </a:bodyPr>
          <a:lstStyle/>
          <a:p>
            <a:pPr algn="l">
              <a:spcAft>
                <a:spcPts val="400"/>
              </a:spcAft>
            </a:pPr>
            <a:r>
              <a:rPr sz="1500" b="1" i="0">
                <a:solidFill>
                  <a:srgbClr val="6D28D9"/>
                </a:solidFill>
                <a:latin typeface="Arial"/>
              </a:rPr>
              <a:t>Also different</a:t>
            </a:r>
          </a:p>
        </p:txBody>
      </p:sp>
      <p:sp>
        <p:nvSpPr>
          <p:cNvPr id="16" name="TextBox 15"/>
          <p:cNvSpPr txBox="1"/>
          <p:nvPr/>
        </p:nvSpPr>
        <p:spPr>
          <a:xfrm>
            <a:off x="8485632" y="2286000"/>
            <a:ext cx="2852928" cy="4023360"/>
          </a:xfrm>
          <a:prstGeom prst="rect">
            <a:avLst/>
          </a:prstGeom>
          <a:noFill/>
        </p:spPr>
        <p:txBody>
          <a:bodyPr wrap="square" lIns="0" rIns="0" tIns="0" bIns="0" anchor="t">
            <a:spAutoFit/>
          </a:bodyPr>
          <a:lstStyle/>
          <a:p>
            <a:pPr algn="l" marL="182880" indent="-182880">
              <a:spcAft>
                <a:spcPts val="800"/>
              </a:spcAft>
              <a:buChar char="•"/>
            </a:pPr>
            <a:r>
              <a:rPr sz="1200" b="0" i="0">
                <a:solidFill>
                  <a:srgbClr val="14142B"/>
                </a:solidFill>
                <a:latin typeface="Calibri"/>
              </a:rPr>
              <a:t>Seven local models benchmarked on the same inputs before choosing qwen2.5:1.5b.</a:t>
            </a:r>
          </a:p>
          <a:p>
            <a:pPr algn="l" marL="182880" indent="-182880">
              <a:spcAft>
                <a:spcPts val="800"/>
              </a:spcAft>
              <a:buChar char="•"/>
            </a:pPr>
            <a:r>
              <a:rPr sz="1200" b="0" i="0">
                <a:solidFill>
                  <a:srgbClr val="14142B"/>
                </a:solidFill>
                <a:latin typeface="Calibri"/>
              </a:rPr>
              <a:t>Test sets written before evaluation, separate from the tuning set.</a:t>
            </a:r>
          </a:p>
          <a:p>
            <a:pPr algn="l" marL="182880" indent="-182880">
              <a:spcAft>
                <a:spcPts val="800"/>
              </a:spcAft>
              <a:buChar char="•"/>
            </a:pPr>
            <a:r>
              <a:rPr sz="1200" b="0" i="0">
                <a:solidFill>
                  <a:srgbClr val="14142B"/>
                </a:solidFill>
                <a:latin typeface="Calibri"/>
              </a:rPr>
              <a:t>Every number regenerates with one command: python scripts/run_reports.py.</a:t>
            </a:r>
          </a:p>
          <a:p>
            <a:pPr algn="l" marL="182880" indent="-182880">
              <a:spcAft>
                <a:spcPts val="800"/>
              </a:spcAft>
              <a:buChar char="•"/>
            </a:pPr>
            <a:r>
              <a:rPr sz="1200" b="0" i="0">
                <a:solidFill>
                  <a:srgbClr val="14142B"/>
                </a:solidFill>
                <a:latin typeface="Calibri"/>
              </a:rPr>
              <a:t>Offline container; no hosted model or API key at runtime.</a:t>
            </a:r>
          </a:p>
          <a:p>
            <a:pPr algn="l" marL="182880" indent="-182880">
              <a:spcAft>
                <a:spcPts val="800"/>
              </a:spcAft>
              <a:buChar char="•"/>
            </a:pPr>
            <a:r>
              <a:rPr sz="1200" b="0" i="0">
                <a:solidFill>
                  <a:srgbClr val="14142B"/>
                </a:solidFill>
                <a:latin typeface="Calibri"/>
              </a:rPr>
              <a:t>AI use disclosed in AI_DISCLOSURE.md.</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1800" dirty="0">
                <a:solidFill>
                  <a:srgbClr val="63637E"/>
                </a:solidFill>
                <a:latin typeface="Calibri" pitchFamily="34" charset="0"/>
                <a:ea typeface="Calibri" pitchFamily="34" charset="-122"/>
                <a:cs typeface="Calibri" pitchFamily="34" charset="-120"/>
              </a:rPr>
              <a:t>Working prototype code — public or shared GitHub repo (Y/N)</a:t>
            </a:r>
            <a:r>
              <a:rPr lang="en-US" sz="1800" dirty="0" b="1">
                <a:solidFill>
                  <a:srgbClr val="0F766E"/>
                </a:solidFill>
                <a:latin typeface="Calibri" pitchFamily="34" charset="0"/>
                <a:ea typeface="Calibri" pitchFamily="34" charset="-122"/>
                <a:cs typeface="Calibri" pitchFamily="34" charset="-120"/>
              </a:rPr>
              <a:t>  — Y: github.com/Sanyam-Ahuja/prism (tag PRISM_GENAI_HACKATHON_Y2026)</a:t>
            </a:r>
            <a:endParaRPr lang="en-US" sz="2800" dirty="0"/>
          </a:p>
          <a:p>
            <a:pPr marL="177800" indent="-177800">
              <a:spcAft>
                <a:spcPts val="500"/>
              </a:spcAft>
              <a:buSzPct val="100000"/>
              <a:buChar char="•"/>
            </a:pPr>
            <a:r>
              <a:rPr lang="en-US" sz="1800" dirty="0">
                <a:solidFill>
                  <a:srgbClr val="63637E"/>
                </a:solidFill>
                <a:latin typeface="Calibri" pitchFamily="34" charset="0"/>
                <a:ea typeface="Calibri" pitchFamily="34" charset="-122"/>
                <a:cs typeface="Calibri" pitchFamily="34" charset="-120"/>
              </a:rPr>
              <a:t>README with reproducible setup instructions (Y/N)</a:t>
            </a:r>
            <a:r>
              <a:rPr lang="en-US" sz="1800" dirty="0" b="1">
                <a:solidFill>
                  <a:srgbClr val="0F766E"/>
                </a:solidFill>
                <a:latin typeface="Calibri" pitchFamily="34" charset="0"/>
                <a:ea typeface="Calibri" pitchFamily="34" charset="-122"/>
                <a:cs typeface="Calibri" pitchFamily="34" charset="-120"/>
              </a:rPr>
              <a:t>  — Y: README.md (pip or Docker Compose)</a:t>
            </a:r>
            <a:endParaRPr lang="en-US" sz="2800" dirty="0"/>
          </a:p>
          <a:p>
            <a:pPr marL="177800" indent="-177800">
              <a:spcAft>
                <a:spcPts val="500"/>
              </a:spcAft>
              <a:buSzPct val="100000"/>
              <a:buChar char="•"/>
            </a:pPr>
            <a:r>
              <a:rPr lang="en-US" sz="1800" dirty="0">
                <a:solidFill>
                  <a:srgbClr val="63637E"/>
                </a:solidFill>
                <a:latin typeface="Calibri" pitchFamily="34" charset="0"/>
                <a:ea typeface="Calibri" pitchFamily="34" charset="-122"/>
                <a:cs typeface="Calibri" pitchFamily="34" charset="-120"/>
              </a:rPr>
              <a:t>Demo video, max 5 minutes (YouTube or Drive link)</a:t>
            </a:r>
            <a:r>
              <a:rPr lang="en-US" sz="1800" dirty="0" b="1">
                <a:solidFill>
                  <a:srgbClr val="0F766E"/>
                </a:solidFill>
                <a:latin typeface="Calibri" pitchFamily="34" charset="0"/>
                <a:ea typeface="Calibri" pitchFamily="34" charset="-122"/>
                <a:cs typeface="Calibri" pitchFamily="34" charset="-120"/>
              </a:rPr>
              <a:t>  — Y: under 5 min · Thapar_DeadlockDodgers_Demo.mp4 (repo root)</a:t>
            </a:r>
            <a:endParaRPr lang="en-US" sz="2800" dirty="0"/>
          </a:p>
          <a:p>
            <a:pPr marL="177800" indent="-177800">
              <a:spcAft>
                <a:spcPts val="500"/>
              </a:spcAft>
              <a:buSzPct val="100000"/>
              <a:buChar char="•"/>
            </a:pPr>
            <a:r>
              <a:rPr lang="en-US" sz="1800" dirty="0">
                <a:solidFill>
                  <a:srgbClr val="63637E"/>
                </a:solidFill>
                <a:latin typeface="Calibri" pitchFamily="34" charset="0"/>
                <a:ea typeface="Calibri" pitchFamily="34" charset="-122"/>
                <a:cs typeface="Calibri" pitchFamily="34" charset="-120"/>
              </a:rPr>
              <a:t>Presentation file (PPT or PDF) (Y/N)</a:t>
            </a:r>
            <a:r>
              <a:rPr lang="en-US" sz="1800" dirty="0" b="1">
                <a:solidFill>
                  <a:srgbClr val="0F766E"/>
                </a:solidFill>
                <a:latin typeface="Calibri" pitchFamily="34" charset="0"/>
                <a:ea typeface="Calibri" pitchFamily="34" charset="-122"/>
                <a:cs typeface="Calibri" pitchFamily="34" charset="-120"/>
              </a:rPr>
              <a:t>  — Y: Thapar_DeadlockDodgers_Submission.pptx (+ PDF), repo root</a:t>
            </a:r>
            <a:endParaRPr lang="en-US" sz="2800" dirty="0"/>
          </a:p>
          <a:p>
            <a:pPr marL="0" indent="0">
              <a:buNone/>
            </a:pPr>
            <a:endParaRPr lang="en-IN" dirty="0"/>
          </a:p>
        </p:txBody>
      </p:sp>
      <p:sp>
        <p:nvSpPr>
          <p:cNvPr id="4" name="TextBox 3"/>
          <p:cNvSpPr txBox="1"/>
          <p:nvPr/>
        </p:nvSpPr>
        <p:spPr>
          <a:xfrm>
            <a:off x="868680" y="4846320"/>
            <a:ext cx="10424160" cy="1097280"/>
          </a:xfrm>
          <a:prstGeom prst="rect">
            <a:avLst/>
          </a:prstGeom>
          <a:noFill/>
        </p:spPr>
        <p:txBody>
          <a:bodyPr wrap="square" lIns="0" rIns="0" tIns="0" bIns="0" anchor="t">
            <a:spAutoFit/>
          </a:bodyPr>
          <a:lstStyle/>
          <a:p>
            <a:pPr algn="l">
              <a:spcAft>
                <a:spcPts val="400"/>
              </a:spcAft>
            </a:pPr>
            <a:r>
              <a:rPr sz="1400" b="1" i="0">
                <a:solidFill>
                  <a:srgbClr val="14142B"/>
                </a:solidFill>
                <a:latin typeface="Calibri"/>
              </a:rPr>
              <a:t>Also in the tagged commit: </a:t>
            </a:r>
            <a:r>
              <a:rPr sz="1400" b="0" i="0">
                <a:solidFill>
                  <a:srgbClr val="3F3F5A"/>
                </a:solidFill>
                <a:latin typeface="Calibri"/>
              </a:rPr>
              <a:t>Dockerfile and docker-compose.yml · requirements.txt (also requirement.txt) and requirements.lock · AI_DISCLOSURE.md · reports/ with the raw output behind every number</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1042415" y="4617720"/>
            <a:ext cx="9601200" cy="365760"/>
          </a:xfrm>
          <a:prstGeom prst="rect">
            <a:avLst/>
          </a:prstGeom>
          <a:noFill/>
        </p:spPr>
        <p:txBody>
          <a:bodyPr wrap="square" lIns="0" rIns="0" tIns="0" bIns="0" anchor="t">
            <a:spAutoFit/>
          </a:bodyPr>
          <a:lstStyle/>
          <a:p>
            <a:pPr algn="l">
              <a:spcAft>
                <a:spcPts val="400"/>
              </a:spcAft>
            </a:pPr>
            <a:r>
              <a:rPr sz="1600" b="1" i="0">
                <a:solidFill>
                  <a:srgbClr val="14142B"/>
                </a:solidFill>
                <a:latin typeface="Calibri"/>
              </a:rPr>
              <a:t>DeadlockDodgers · Thapar  ·  </a:t>
            </a:r>
            <a:r>
              <a:rPr sz="1600" b="0" i="0">
                <a:solidFill>
                  <a:srgbClr val="6D28D9"/>
                </a:solidFill>
                <a:latin typeface="Calibri"/>
              </a:rPr>
              <a:t>github.com/Sanyam-Ahuja/prism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