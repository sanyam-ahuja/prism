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1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2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Precision@1 (%)</c:v>
                </c:pt>
              </c:strCache>
            </c:strRef>
          </c:tx>
          <c:spPr>
            <a:solidFill>
              <a:srgbClr val="94A3B8"/>
            </a:solidFill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F172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94A3B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94A3B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94A3B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0F766E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Model writes the URI</c:v>
                  </c:pt>
                  <c:pt idx="1">
                    <c:v>Model picks from top 8</c:v>
                  </c:pt>
                  <c:pt idx="2">
                    <c:v>Rules only (BM25)</c:v>
                  </c:pt>
                  <c:pt idx="3">
                    <c:v>Hybrid BM25 + dense (shipped)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2.3</c:v>
                </c:pt>
                <c:pt idx="1">
                  <c:v>60.5</c:v>
                </c:pt>
                <c:pt idx="2">
                  <c:v>90.7</c:v>
                </c:pt>
                <c:pt idx="3">
                  <c:v>95.3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b="0" i="0" strike="noStrike" sz="1200" u="none">
                  <a:solidFill>
                    <a:srgbClr val="0F172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3415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10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Median (P50)</c:v>
                </c:pt>
              </c:strCache>
            </c:strRef>
          </c:tx>
          <c:spPr>
            <a:solidFill>
              <a:srgbClr val="0F766E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34155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qwen2.5 1.5B (shipped)</c:v>
                  </c:pt>
                  <c:pt idx="1">
                    <c:v>llama3.2 1B Q8</c:v>
                  </c:pt>
                  <c:pt idx="2">
                    <c:v>llama3.2 1B Q4</c:v>
                  </c:pt>
                  <c:pt idx="3">
                    <c:v>gemma3 1B</c:v>
                  </c:pt>
                  <c:pt idx="4">
                    <c:v>llama3.2 3B</c:v>
                  </c:pt>
                  <c:pt idx="5">
                    <c:v>qwen2.5 3B</c:v>
                  </c:pt>
                  <c:pt idx="6">
                    <c:v>gemma3 4B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3.33</c:v>
                </c:pt>
                <c:pt idx="1">
                  <c:v>3.8</c:v>
                </c:pt>
                <c:pt idx="2">
                  <c:v>3.63</c:v>
                </c:pt>
                <c:pt idx="3">
                  <c:v>4.28</c:v>
                </c:pt>
                <c:pt idx="4">
                  <c:v>4.72</c:v>
                </c:pt>
                <c:pt idx="5">
                  <c:v>4.87</c:v>
                </c:pt>
                <c:pt idx="6">
                  <c:v>7.09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P95</c:v>
                </c:pt>
              </c:strCache>
            </c:strRef>
          </c:tx>
          <c:spPr>
            <a:solidFill>
              <a:srgbClr val="F59E0B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34155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qwen2.5 1.5B (shipped)</c:v>
                  </c:pt>
                  <c:pt idx="1">
                    <c:v>llama3.2 1B Q8</c:v>
                  </c:pt>
                  <c:pt idx="2">
                    <c:v>llama3.2 1B Q4</c:v>
                  </c:pt>
                  <c:pt idx="3">
                    <c:v>gemma3 1B</c:v>
                  </c:pt>
                  <c:pt idx="4">
                    <c:v>llama3.2 3B</c:v>
                  </c:pt>
                  <c:pt idx="5">
                    <c:v>qwen2.5 3B</c:v>
                  </c:pt>
                  <c:pt idx="6">
                    <c:v>gemma3 4B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5.47</c:v>
                </c:pt>
                <c:pt idx="1">
                  <c:v>6.28</c:v>
                </c:pt>
                <c:pt idx="2">
                  <c:v>4.77</c:v>
                </c:pt>
                <c:pt idx="3">
                  <c:v>6.13</c:v>
                </c:pt>
                <c:pt idx="4">
                  <c:v>8.17</c:v>
                </c:pt>
                <c:pt idx="5">
                  <c:v>6.51</c:v>
                </c:pt>
                <c:pt idx="6">
                  <c:v>10.11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900" u="none">
                  <a:solidFill>
                    <a:srgbClr val="334155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33415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1"/>
          <c:min val="0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  <c:majorUnit val="2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00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Galaxy users describe problems vaguely. This engine turns such a complaint into a schema-valid troubleshooting plan whose settings steps open the right Settings screen in one tap. Headline numbers: 28.6 ms P95 on a cache hit, 5.2 s P95 for a live plan from a local 1.5B model, zero URL leaks, and no per-query cost.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input is a free-text complaint, optionally with a knowledge-base (SIIS) article. The output is a plan in the problem statement's schema. Five hard rules: valid JSON, steps only from the source, catalog deeplinks only, zero web URLs, and the latency budgets.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These three invariants come from ADR-001, ADR-002 and the build design. Because the model only emits indices and screen descriptions, hallucinated steps and hallucinated URIs are impossible by construction rather than filtered after the fact.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an article, the complaint is split at explicit problem boundaries and each part is matched to a pre-validated plan by meaning, not keywords. Complaints about topics no plan covers fall back instead of getting the nearest display plan. With an article, the article decides: a known article returns its stored plan instantly; an unseen one goes to the local model, which only picks step numbers. A retriever maps screens to catalog deeplinks, and 17 gates validate the result.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semantic cache embeds the query with bge-small and compares it to the cached phrasings of each plan. The calibration set tuned the thresholds; a separate test set, written before evaluation, measures the result honestly. Out-of-scope anchors cut false hits from 1/12 to 0/12 on the calibration set and 2/38 to 1/38 on the test set without losing hit rate.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live path runs qwen2.5:1.5b through Ollama on an RTX 4050 laptop GPU. The model output is constrained by a JSON schema and contains only indices and screen descriptions. Retrieval, ordering and validation are deterministic. 33 of 33 live plans passed every gate; median 3.2 s, P95 5.2 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Appendix C architectural ablation. Letting the model write the URI fails completely because the catalog's URIs are masked. Letting it choose among the retriever's top 8 keeps URIs valid but only reaches 60.5%. Rules-only BM25 is close on catalog wording but collapses on free-form wording, so the shipped hybrid combines BM25 and dense embeddings.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All seven models ran on the same inputs in one run. The 4-bit llama3.2 1B has the lowest P95 but a slower median because it writes 37% more tokens, and its plans needed most action names replaced. qwen2.5:1.5b gives the best balance of speed, validity and accuracy.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 target is met. The raw output behind each figure is in the reports folder, and every number can be regenerated with scripts/run_reports.py.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demo page calls the real API. Each scene shows the path taken, latency, tokens and cost. The Open buttons show the catalog deeplink; on a phone they would open the Settings screen.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These are the main limits from the metrics report, each with evidence there. Sharing live plans across callers is held back deliberately: it risks serving one caller's article-derived plan to others.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Everything shown is in the repository: code, tests, the reports behind every number, and the demo script. Thank you.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82296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4B8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SAMSUNG PRISM GENAI HACKATHON 3.0  ·  THEME 02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88720"/>
            <a:ext cx="8046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Smart Guided Troubleshooting Engine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37744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vague Galaxy complaint in. A validated, one-tap troubleshooting plan out.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548640" y="3383280"/>
            <a:ext cx="1828800" cy="960120"/>
          </a:xfrm>
          <a:prstGeom prst="roundRect">
            <a:avLst>
              <a:gd name="adj" fmla="val 7619"/>
            </a:avLst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347472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B8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28.6 ms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713232" y="393192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cache hit, P95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560320" y="3383280"/>
            <a:ext cx="1828800" cy="960120"/>
          </a:xfrm>
          <a:prstGeom prst="roundRect">
            <a:avLst>
              <a:gd name="adj" fmla="val 7619"/>
            </a:avLst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2724912" y="347472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B8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5.2 s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2724912" y="393192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plan, P95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572000" y="3383280"/>
            <a:ext cx="1828800" cy="960120"/>
          </a:xfrm>
          <a:prstGeom prst="roundRect">
            <a:avLst>
              <a:gd name="adj" fmla="val 7619"/>
            </a:avLst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736592" y="347472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B8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4736592" y="393192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URL leaks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583680" y="3383280"/>
            <a:ext cx="1828800" cy="960120"/>
          </a:xfrm>
          <a:prstGeom prst="roundRect">
            <a:avLst>
              <a:gd name="adj" fmla="val 7619"/>
            </a:avLst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748272" y="347472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B8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$0.00</a:t>
            </a:r>
            <a:endParaRPr lang="en-US" sz="2200" dirty="0"/>
          </a:p>
        </p:txBody>
      </p:sp>
      <p:sp>
        <p:nvSpPr>
          <p:cNvPr id="16" name="Text 14"/>
          <p:cNvSpPr txBox="1"/>
          <p:nvPr/>
        </p:nvSpPr>
        <p:spPr>
          <a:xfrm>
            <a:off x="6748272" y="393192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query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problem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04672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 a complaint into a plan an agent or the user can follow immediately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3749040" cy="3291840"/>
          </a:xfrm>
          <a:prstGeom prst="roundRect">
            <a:avLst>
              <a:gd name="adj" fmla="val 2222"/>
            </a:avLst>
          </a:prstGeom>
          <a:solidFill>
            <a:srgbClr val="CCFBF1"/>
          </a:solidFill>
          <a:ln w="12700">
            <a:solidFill>
              <a:srgbClr val="CCFBF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146304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76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users actually write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1874520"/>
            <a:ext cx="329184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200"/>
              </a:spcAft>
              <a:buNone/>
            </a:pPr>
            <a:r>
              <a:rPr lang="en-US" sz="1400" i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“My Galaxy S22 screen inputs are delayed and the touch responsiveness is laggy.”</a:t>
            </a:r>
            <a:endParaRPr lang="en-US" sz="14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400" i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“My screen got cracked when I dropped it. Also, every tap takes ages to register.”</a:t>
            </a:r>
            <a:endParaRPr lang="en-US" sz="14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400" i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“My battery dies by lunchtime even though I barely touch my phone.”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3977640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Optionally with a knowledge-base article: then the plan must be built from that article alone.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4572000" y="132588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every answer must do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572000" y="1783080"/>
            <a:ext cx="384048" cy="384048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72000" y="1783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5074920" y="1728216"/>
            <a:ext cx="3611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 JSON in the given schema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response, no exceptions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572000" y="2350008"/>
            <a:ext cx="384048" cy="384048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72000" y="23500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5074920" y="2295144"/>
            <a:ext cx="3611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Steps only from the support article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invented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572000" y="2916936"/>
            <a:ext cx="384048" cy="384048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572000" y="291693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5074920" y="2862072"/>
            <a:ext cx="3611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Deeplinks copied from the catalog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 synthesised by a model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4572000" y="3483864"/>
            <a:ext cx="384048" cy="384048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572000" y="34838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5074920" y="3429000"/>
            <a:ext cx="3611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web URLs anywhere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 if the article contains one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4572000" y="4050792"/>
            <a:ext cx="384048" cy="384048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572000" y="40507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5074920" y="3995928"/>
            <a:ext cx="3611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P95 ≤ 300 ms cached, ≤ 8 s live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rules the design never breaks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04672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rule turns a failure mode into something that cannot happen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2606040" cy="3200400"/>
          </a:xfrm>
          <a:prstGeom prst="roundRect">
            <a:avLst>
              <a:gd name="adj" fmla="val 280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85800" y="1600200"/>
            <a:ext cx="384048" cy="384048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85800" y="1600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2103120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model never writes user-facing text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2880360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selects step numbers from the article; code copies those steps verbatim.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685800" y="3840480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step that is not in the source cannot appear.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273552" y="1371600"/>
            <a:ext cx="2606040" cy="3200400"/>
          </a:xfrm>
          <a:prstGeom prst="roundRect">
            <a:avLst>
              <a:gd name="adj" fmla="val 280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502152" y="1600200"/>
            <a:ext cx="384048" cy="384048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502152" y="1600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3502152" y="2103120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model never sees or writes a deeplink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3502152" y="2880360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describes the screen it wants; a BM25 + dense retriever finds the catalog entry.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3502152" y="3840480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invented URI is structurally impossible.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089904" y="1371600"/>
            <a:ext cx="2606040" cy="3200400"/>
          </a:xfrm>
          <a:prstGeom prst="roundRect">
            <a:avLst>
              <a:gd name="adj" fmla="val 280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318504" y="1600200"/>
            <a:ext cx="384048" cy="384048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318504" y="1600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6318504" y="2103120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cache is the pipeline, frozen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6318504" y="2880360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Cached plans are the same pipeline's output, run once per article at build time.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6318504" y="3840480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hand-written answer path to drift or hard-code.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a request is handled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04672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 /v1/troubleshoot  →  one of three paths; every plan returned has passed the gates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365760" y="2331720"/>
            <a:ext cx="1325880" cy="822960"/>
          </a:xfrm>
          <a:prstGeom prst="roundRect">
            <a:avLst>
              <a:gd name="adj" fmla="val 6667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20624" y="2331720"/>
            <a:ext cx="12161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Complaint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optional article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1965960" y="2194560"/>
            <a:ext cx="1188720" cy="1097280"/>
          </a:xfrm>
          <a:prstGeom prst="diamond">
            <a:avLst/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965960" y="2194560"/>
            <a:ext cx="1188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Article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supplied?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1691640" y="2743200"/>
            <a:ext cx="274320" cy="914"/>
          </a:xfrm>
          <a:prstGeom prst="line">
            <a:avLst/>
          </a:prstGeom>
          <a:noFill/>
          <a:ln w="19050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 flipV="1">
            <a:off x="2971800" y="1691640"/>
            <a:ext cx="502920" cy="685800"/>
          </a:xfrm>
          <a:prstGeom prst="line">
            <a:avLst/>
          </a:prstGeom>
          <a:noFill/>
          <a:ln w="19050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10" name="Text 8"/>
          <p:cNvSpPr txBox="1"/>
          <p:nvPr/>
        </p:nvSpPr>
        <p:spPr>
          <a:xfrm>
            <a:off x="2926080" y="178308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474720" y="1325880"/>
            <a:ext cx="1554480" cy="73152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529584" y="1325880"/>
            <a:ext cx="14447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Split into problems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(one clause each)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029200" y="1691640"/>
            <a:ext cx="274320" cy="914"/>
          </a:xfrm>
          <a:prstGeom prst="line">
            <a:avLst/>
          </a:prstGeom>
          <a:noFill/>
          <a:ln w="19050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5303520" y="1325880"/>
            <a:ext cx="1645920" cy="73152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358384" y="1325880"/>
            <a:ext cx="15361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each to a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cached plan (bge-small)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949440" y="1691640"/>
            <a:ext cx="274320" cy="914"/>
          </a:xfrm>
          <a:prstGeom prst="line">
            <a:avLst/>
          </a:prstGeom>
          <a:noFill/>
          <a:ln w="19050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7223760" y="1325880"/>
            <a:ext cx="1554480" cy="731520"/>
          </a:xfrm>
          <a:prstGeom prst="roundRect">
            <a:avLst>
              <a:gd name="adj" fmla="val 7500"/>
            </a:avLst>
          </a:prstGeom>
          <a:solidFill>
            <a:srgbClr val="CCFBF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278624" y="1325880"/>
            <a:ext cx="14447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plan per problem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milliseconds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3474720" y="2130552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match, or out of scope → empty plan, fallback: no_siis_context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2971800" y="3108960"/>
            <a:ext cx="502920" cy="685800"/>
          </a:xfrm>
          <a:prstGeom prst="line">
            <a:avLst/>
          </a:prstGeom>
          <a:noFill/>
          <a:ln w="19050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21" name="Text 19"/>
          <p:cNvSpPr txBox="1"/>
          <p:nvPr/>
        </p:nvSpPr>
        <p:spPr>
          <a:xfrm>
            <a:off x="2880360" y="338328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yes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474720" y="3429000"/>
            <a:ext cx="1188720" cy="73152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3529584" y="3429000"/>
            <a:ext cx="10789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Article seen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before?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663440" y="3794760"/>
            <a:ext cx="182880" cy="914"/>
          </a:xfrm>
          <a:prstGeom prst="line">
            <a:avLst/>
          </a:prstGeom>
          <a:noFill/>
          <a:ln w="19050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4846320" y="3429000"/>
            <a:ext cx="1325880" cy="73152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4901184" y="3429000"/>
            <a:ext cx="12161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qwen2.5:1.5b picks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numbers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172200" y="3794760"/>
            <a:ext cx="182880" cy="914"/>
          </a:xfrm>
          <a:prstGeom prst="line">
            <a:avLst/>
          </a:prstGeom>
          <a:noFill/>
          <a:ln w="19050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6355080" y="3429000"/>
            <a:ext cx="1188720" cy="73152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409944" y="3429000"/>
            <a:ext cx="10789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Retriever links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deeplinks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7543800" y="3794760"/>
            <a:ext cx="182880" cy="914"/>
          </a:xfrm>
          <a:prstGeom prst="line">
            <a:avLst/>
          </a:prstGeom>
          <a:noFill/>
          <a:ln w="19050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31" name="Shape 29"/>
          <p:cNvSpPr/>
          <p:nvPr/>
        </p:nvSpPr>
        <p:spPr>
          <a:xfrm>
            <a:off x="7726680" y="3429000"/>
            <a:ext cx="1051560" cy="731520"/>
          </a:xfrm>
          <a:prstGeom prst="roundRect">
            <a:avLst>
              <a:gd name="adj" fmla="val 7500"/>
            </a:avLst>
          </a:prstGeom>
          <a:solidFill>
            <a:srgbClr val="CCFBF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7781544" y="3429000"/>
            <a:ext cx="9418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Gates G0–G16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live plan</a:t>
            </a:r>
            <a:endParaRPr lang="en-US" sz="1100" dirty="0"/>
          </a:p>
        </p:txBody>
      </p:sp>
      <p:sp>
        <p:nvSpPr>
          <p:cNvPr id="33" name="Text 31"/>
          <p:cNvSpPr txBox="1"/>
          <p:nvPr/>
        </p:nvSpPr>
        <p:spPr>
          <a:xfrm>
            <a:off x="3474720" y="4233672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Seen before (a supplied article, or planned earlier) → its stored plan, no model call</a:t>
            </a:r>
            <a:endParaRPr lang="en-US" sz="1100" dirty="0"/>
          </a:p>
        </p:txBody>
      </p:sp>
      <p:sp>
        <p:nvSpPr>
          <p:cNvPr id="34" name="Text 32"/>
          <p:cNvSpPr txBox="1"/>
          <p:nvPr/>
        </p:nvSpPr>
        <p:spPr>
          <a:xfrm>
            <a:off x="365760" y="457200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time: the same pipeline ran once per supplied article with Claude Opus 5; the validated plans and their embeddings are frozen in artifacts/. No hosted model is called at runtime.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cache path: meaning, not strings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04672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validated plans, 130 cached phrasings, no model call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2011680" cy="1463040"/>
          </a:xfrm>
          <a:prstGeom prst="roundRect">
            <a:avLst>
              <a:gd name="adj" fmla="val 5000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463040"/>
            <a:ext cx="1645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76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28.6 ms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05740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P95 for a phrasing never seen before (0.3 ms exact)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2606040" y="1325880"/>
            <a:ext cx="2011680" cy="1463040"/>
          </a:xfrm>
          <a:prstGeom prst="roundRect">
            <a:avLst>
              <a:gd name="adj" fmla="val 5000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788920" y="1463040"/>
            <a:ext cx="1645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76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84.6%</a:t>
            </a:r>
            <a:endParaRPr lang="en-US" sz="3000" dirty="0"/>
          </a:p>
        </p:txBody>
      </p:sp>
      <p:sp>
        <p:nvSpPr>
          <p:cNvPr id="9" name="Text 7"/>
          <p:cNvSpPr txBox="1"/>
          <p:nvPr/>
        </p:nvSpPr>
        <p:spPr>
          <a:xfrm>
            <a:off x="2788920" y="205740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hit rate on 26 tuning paraphrases · 100% on 27 written afterwards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57200" y="2926080"/>
            <a:ext cx="2011680" cy="1463040"/>
          </a:xfrm>
          <a:prstGeom prst="roundRect">
            <a:avLst>
              <a:gd name="adj" fmla="val 5000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0080" y="3063240"/>
            <a:ext cx="1645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76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340/340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640080" y="365760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complaints naming two known problems got both plans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606040" y="2926080"/>
            <a:ext cx="2011680" cy="1463040"/>
          </a:xfrm>
          <a:prstGeom prst="roundRect">
            <a:avLst>
              <a:gd name="adj" fmla="val 5000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2788920" y="3063240"/>
            <a:ext cx="1645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37/38</a:t>
            </a:r>
            <a:endParaRPr lang="en-US" sz="3000" dirty="0"/>
          </a:p>
        </p:txBody>
      </p:sp>
      <p:sp>
        <p:nvSpPr>
          <p:cNvPr id="15" name="Text 13"/>
          <p:cNvSpPr txBox="1"/>
          <p:nvPr/>
        </p:nvSpPr>
        <p:spPr>
          <a:xfrm>
            <a:off x="2788920" y="365760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held-out out-of-scope complaints correctly fell back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4983480" y="1325880"/>
            <a:ext cx="3703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it works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4983480" y="1691640"/>
            <a:ext cx="370332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Two-factor acceptance: a match must be similar enough, and either very close or clearly ahead of the runner-up plan.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Multi-intent: split only at explicit boundaries (sentence ends, “also”, “, and the…”), each part judged like a whole query.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Out-of-scope anchors: topics no plan covers (battery, connectivity…) pull a complaint to a fallback instead of the nearest display plan.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Thresholds tuned on one set, reported on a test set written before evaluation.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live path: a 1.5B model on a laptop GPU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04672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a new article: plan it in seconds, locally, with nothing invented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384048" cy="384048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3716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960120" y="1325880"/>
            <a:ext cx="3931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qwen2.5:1.5b selects step numbers and groups them into actions, under a JSON-schema grammar.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2194560"/>
            <a:ext cx="384048" cy="384048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57200" y="21945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960120" y="2148840"/>
            <a:ext cx="3931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settings screen is resolved against the 578-entry catalog by hybrid retrieval.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57200" y="3017520"/>
            <a:ext cx="384048" cy="384048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57200" y="30175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960120" y="2971800"/>
            <a:ext cx="3931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Settings screens first, hands-on checks next, destructive steps like a factory reset last.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57200" y="3840480"/>
            <a:ext cx="384048" cy="384048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57200" y="3840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960120" y="3794760"/>
            <a:ext cx="3931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Gates G0–G16: schema, URL scrub, catalog URIs, one action = one screen; repaired or rejected.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257800" y="1325880"/>
            <a:ext cx="1645920" cy="1371600"/>
          </a:xfrm>
          <a:prstGeom prst="roundRect">
            <a:avLst>
              <a:gd name="adj" fmla="val 5333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440680" y="1463040"/>
            <a:ext cx="1280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76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3.2 s</a:t>
            </a:r>
            <a:endParaRPr lang="en-US" sz="3000" dirty="0"/>
          </a:p>
        </p:txBody>
      </p:sp>
      <p:sp>
        <p:nvSpPr>
          <p:cNvPr id="18" name="Text 16"/>
          <p:cNvSpPr txBox="1"/>
          <p:nvPr/>
        </p:nvSpPr>
        <p:spPr>
          <a:xfrm>
            <a:off x="5440680" y="2057400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 (P50)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7040880" y="1325880"/>
            <a:ext cx="1645920" cy="1371600"/>
          </a:xfrm>
          <a:prstGeom prst="roundRect">
            <a:avLst>
              <a:gd name="adj" fmla="val 5333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223760" y="1463040"/>
            <a:ext cx="1280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76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5.2 s</a:t>
            </a:r>
            <a:endParaRPr lang="en-US" sz="3000" dirty="0"/>
          </a:p>
        </p:txBody>
      </p:sp>
      <p:sp>
        <p:nvSpPr>
          <p:cNvPr id="21" name="Text 19"/>
          <p:cNvSpPr txBox="1"/>
          <p:nvPr/>
        </p:nvSpPr>
        <p:spPr>
          <a:xfrm>
            <a:off x="7223760" y="2057400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P95, against an 8 s budget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5257800" y="2834640"/>
            <a:ext cx="1645920" cy="1371600"/>
          </a:xfrm>
          <a:prstGeom prst="roundRect">
            <a:avLst>
              <a:gd name="adj" fmla="val 5333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440680" y="2971800"/>
            <a:ext cx="1280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76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33/33</a:t>
            </a:r>
            <a:endParaRPr lang="en-US" sz="3000" dirty="0"/>
          </a:p>
        </p:txBody>
      </p:sp>
      <p:sp>
        <p:nvSpPr>
          <p:cNvPr id="24" name="Text 22"/>
          <p:cNvSpPr txBox="1"/>
          <p:nvPr/>
        </p:nvSpPr>
        <p:spPr>
          <a:xfrm>
            <a:off x="5440680" y="3566160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plans pass every gate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7040880" y="2834640"/>
            <a:ext cx="1645920" cy="1371600"/>
          </a:xfrm>
          <a:prstGeom prst="roundRect">
            <a:avLst>
              <a:gd name="adj" fmla="val 5333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7223760" y="2971800"/>
            <a:ext cx="1280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76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$0.00</a:t>
            </a:r>
            <a:endParaRPr lang="en-US" sz="3000" dirty="0"/>
          </a:p>
        </p:txBody>
      </p:sp>
      <p:sp>
        <p:nvSpPr>
          <p:cNvPr id="27" name="Text 25"/>
          <p:cNvSpPr txBox="1"/>
          <p:nvPr/>
        </p:nvSpPr>
        <p:spPr>
          <a:xfrm>
            <a:off x="7223760" y="3566160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~880 tokens, local inference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5257800" y="4343400"/>
            <a:ext cx="3429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first validated plan for an article is kept, so repeats are identical and instant.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a retriever, not the model, picks deeplinks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04672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Precision@1 on 43 hand-labelled Display screens</a:t>
            </a:r>
            <a:endParaRPr lang="en-US" sz="14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365760" y="1234440"/>
          <a:ext cx="5394960" cy="3566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 txBox="1"/>
          <p:nvPr/>
        </p:nvSpPr>
        <p:spPr>
          <a:xfrm>
            <a:off x="6035040" y="132588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else the ablation showed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6035040" y="1691640"/>
            <a:ext cx="274320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Masked URIs are opaque, so a model writing them invents 42 of 43.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Hybrid takes 24.5 ms per screen (P95), against 428 ms for a model call.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free-form wording, hybrid recall@1 is 66.7% vs 13.3% for rules alone.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 on 26 Battery, Camera and Performance screens.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Choosing the local model: seven measured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04672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11 articles, 3 passes each, one run on the final code (seconds)</a:t>
            </a:r>
            <a:endParaRPr lang="en-US" sz="14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365760" y="1188720"/>
          <a:ext cx="5577840" cy="3657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 txBox="1"/>
          <p:nvPr/>
        </p:nvSpPr>
        <p:spPr>
          <a:xfrm>
            <a:off x="457200" y="47548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Latency moves 5–10% between runs; the dedicated benchmark measured qwen2.5:1.5b at 5.2 s P95.</a:t>
            </a:r>
            <a:endParaRPr lang="en-US" sz="1000" dirty="0"/>
          </a:p>
        </p:txBody>
      </p:sp>
      <p:sp>
        <p:nvSpPr>
          <p:cNvPr id="6" name="Text 3"/>
          <p:cNvSpPr txBox="1"/>
          <p:nvPr/>
        </p:nvSpPr>
        <p:spPr>
          <a:xfrm>
            <a:off x="6217920" y="132588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qwen2.5:1.5b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6217920" y="1691640"/>
            <a:ext cx="256032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Fastest median of all seven.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33/33 plans pass every gate; gemma3 1B and 4B do not.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step accuracy: 2.97 of 3.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3B models link more screens but cost 1.4–1.5 s more at the median.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1B model is not enough: the 4-bit llama3.2 1B had 63 of 72 action names replaced.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Results against the problem statement's targets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04672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report in Appendix C format: docs/metrics.md</a:t>
            </a:r>
            <a:endParaRPr lang="en-US" sz="14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8229600" cy="914400"/>
        </p:xfrm>
        <a:graphic>
          <a:graphicData uri="http://schemas.openxmlformats.org/drawingml/2006/table">
            <a:tbl>
              <a:tblPr/>
              <a:tblGrid>
                <a:gridCol w="3017520"/>
                <a:gridCol w="1280160"/>
                <a:gridCol w="393192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Measure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Target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Measured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Cache hit, P95 latency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≤ 300 ms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F76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 ms exact · 28.6 ms new phrasing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Live plan, P95 latency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≤ 8 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F76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5.2 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Schema-valid responses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≥ 99%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F76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 (325/325 over HTTP, 20/20 batch)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Web-URL leaks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F76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 including planted URLs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Deeplinks from the catalog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F76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100%, no model writes one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Cache hit rate, unseen phrasings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≥ 80%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F76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84.6% tuning · 100% held-out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Step accuracy (0–3)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rubric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F76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2.92 cached · 2.97 live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Deeplink relevance (0–2)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rubric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F76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1.78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Cost per query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tracked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F76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$0.00, local inference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457200" y="46634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Measured on one laptop (i5-13420H, RTX 4050 6 GB); latency varies 5–10% between runs.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demo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04672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scripts/demo.py  →  http://127.0.0.1:8000/demo</a:t>
            </a:r>
            <a:endParaRPr lang="en-US" sz="1400" dirty="0"/>
          </a:p>
        </p:txBody>
      </p:sp>
      <p:pic>
        <p:nvPicPr>
          <p:cNvPr id="4" name="Image 0" descr="Demo page showing a cache hit in 12 ms with one-tap Settings deeplink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34440"/>
            <a:ext cx="5394960" cy="337413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172200" y="123444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Seven scenes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6172200" y="1682496"/>
            <a:ext cx="274320" cy="274320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172200" y="168249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6537960" y="1645920"/>
            <a:ext cx="2240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Known issue: cache hit in ms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6172200" y="2112264"/>
            <a:ext cx="274320" cy="274320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172200" y="211226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11" name="Text 8"/>
          <p:cNvSpPr txBox="1"/>
          <p:nvPr/>
        </p:nvSpPr>
        <p:spPr>
          <a:xfrm>
            <a:off x="6537960" y="2075688"/>
            <a:ext cx="2240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issue, new words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172200" y="2542032"/>
            <a:ext cx="274320" cy="274320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6172200" y="254203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sp>
        <p:nvSpPr>
          <p:cNvPr id="14" name="Text 11"/>
          <p:cNvSpPr txBox="1"/>
          <p:nvPr/>
        </p:nvSpPr>
        <p:spPr>
          <a:xfrm>
            <a:off x="6537960" y="2505456"/>
            <a:ext cx="2240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problems: two plans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6172200" y="2971800"/>
            <a:ext cx="274320" cy="274320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172200" y="29718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sp>
        <p:nvSpPr>
          <p:cNvPr id="17" name="Text 14"/>
          <p:cNvSpPr txBox="1"/>
          <p:nvPr/>
        </p:nvSpPr>
        <p:spPr>
          <a:xfrm>
            <a:off x="6537960" y="2935224"/>
            <a:ext cx="2240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Never-seen issue: live plan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6172200" y="3401568"/>
            <a:ext cx="274320" cy="274320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6172200" y="340156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  <p:sp>
        <p:nvSpPr>
          <p:cNvPr id="20" name="Text 17"/>
          <p:cNvSpPr txBox="1"/>
          <p:nvPr/>
        </p:nvSpPr>
        <p:spPr>
          <a:xfrm>
            <a:off x="6537960" y="3364992"/>
            <a:ext cx="2240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 of scope: safe fallback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6172200" y="3831336"/>
            <a:ext cx="274320" cy="274320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172200" y="383133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  <p:sp>
        <p:nvSpPr>
          <p:cNvPr id="23" name="Text 20"/>
          <p:cNvSpPr txBox="1"/>
          <p:nvPr/>
        </p:nvSpPr>
        <p:spPr>
          <a:xfrm>
            <a:off x="6537960" y="3794760"/>
            <a:ext cx="2240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Planted URL: 0 leaks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6172200" y="4261104"/>
            <a:ext cx="274320" cy="274320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6172200" y="426110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  <p:sp>
        <p:nvSpPr>
          <p:cNvPr id="26" name="Text 23"/>
          <p:cNvSpPr txBox="1"/>
          <p:nvPr/>
        </p:nvSpPr>
        <p:spPr>
          <a:xfrm>
            <a:off x="6537960" y="4224528"/>
            <a:ext cx="2240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Spare: camera (live)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it does not do yet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04672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Measured limits, from docs/metrics.md §6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3977640" cy="2743200"/>
          </a:xfrm>
          <a:prstGeom prst="roundRect">
            <a:avLst>
              <a:gd name="adj" fmla="val 266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141732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Limitations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1783080"/>
            <a:ext cx="356616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Cached plans cover Display only: all supplied data is Display.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plans link a specific screen for 19% of settings actions (69% cached).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two-problem complaint, a problem with no plan is dropped silently.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new article always takes the live path, even if the complaint matches a cached plan.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709160" y="1280160"/>
            <a:ext cx="3977640" cy="2743200"/>
          </a:xfrm>
          <a:prstGeom prst="roundRect">
            <a:avLst>
              <a:gd name="adj" fmla="val 2667"/>
            </a:avLst>
          </a:prstGeom>
          <a:solidFill>
            <a:srgbClr val="CCFBF1"/>
          </a:solidFill>
          <a:ln w="12700">
            <a:solidFill>
              <a:srgbClr val="CCFBF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937760" y="141732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76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steps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4937760" y="1783080"/>
            <a:ext cx="356616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Compile plans for Battery, Camera and Performance articles.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Tell the caller when part of a complaint went unanswered (needs a meta key).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Decide whether live plans may be shared with other callers' similar queries.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Raise live-path deeplink coverage with better screen descriptions.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4008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Try it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8046720" cy="1463040"/>
          </a:xfrm>
          <a:prstGeom prst="roundRect">
            <a:avLst>
              <a:gd name="adj" fmla="val 5000"/>
            </a:avLst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600200"/>
            <a:ext cx="7498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4B8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pip install -r requirements.txt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B8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ollama pull qwen2.5:1.5b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B8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 scripts/demo.py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24612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github.com/Sanyam-Ahuja/prism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Tag PRISM_GENAI_HACKATHON_Y2026  ·  README, metrics report, AI disclosure and demo runbook inside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Smart Guided Troubleshooting Engine</dc:title>
  <dc:subject>Samsung PRISM GenAI Hackathon 3.0 - Theme 02</dc:subject>
  <dc:creator>PptxGenJS</dc:creator>
  <cp:lastModifiedBy>PptxGenJS</cp:lastModifiedBy>
  <cp:revision>1</cp:revision>
  <dcterms:created xsi:type="dcterms:W3CDTF">2026-09-30T15:38:12Z</dcterms:created>
  <dcterms:modified xsi:type="dcterms:W3CDTF">2026-09-30T15:38:12Z</dcterms:modified>
</cp:coreProperties>
</file>